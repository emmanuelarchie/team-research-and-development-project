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0"/>
  </p:notesMasterIdLst>
  <p:handoutMasterIdLst>
    <p:handoutMasterId r:id="rId11"/>
  </p:handoutMasterIdLst>
  <p:sldIdLst>
    <p:sldId id="289" r:id="rId5"/>
    <p:sldId id="329" r:id="rId6"/>
    <p:sldId id="336" r:id="rId7"/>
    <p:sldId id="338" r:id="rId8"/>
    <p:sldId id="339"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249" userDrawn="1">
          <p15:clr>
            <a:srgbClr val="A4A3A4"/>
          </p15:clr>
        </p15:guide>
        <p15:guide id="4" pos="7068" userDrawn="1">
          <p15:clr>
            <a:srgbClr val="A4A3A4"/>
          </p15:clr>
        </p15:guide>
        <p15:guide id="5" orient="horz" pos="13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7CBE"/>
    <a:srgbClr val="85509A"/>
    <a:srgbClr val="714484"/>
    <a:srgbClr val="0073CF"/>
    <a:srgbClr val="203232"/>
    <a:srgbClr val="30454F"/>
    <a:srgbClr val="1295D8"/>
    <a:srgbClr val="004A5C"/>
    <a:srgbClr val="0093B6"/>
    <a:srgbClr val="00B9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544" autoAdjust="0"/>
    <p:restoredTop sz="94280" autoAdjust="0"/>
  </p:normalViewPr>
  <p:slideViewPr>
    <p:cSldViewPr snapToGrid="0" showGuides="1">
      <p:cViewPr varScale="1">
        <p:scale>
          <a:sx n="68" d="100"/>
          <a:sy n="68" d="100"/>
        </p:scale>
        <p:origin x="1164" y="72"/>
      </p:cViewPr>
      <p:guideLst>
        <p:guide orient="horz" pos="2160"/>
        <p:guide pos="3840"/>
        <p:guide orient="horz" pos="3249"/>
        <p:guide pos="7068"/>
        <p:guide orient="horz" pos="1380"/>
      </p:guideLst>
    </p:cSldViewPr>
  </p:slideViewPr>
  <p:outlineViewPr>
    <p:cViewPr>
      <p:scale>
        <a:sx n="33" d="100"/>
        <a:sy n="33" d="100"/>
      </p:scale>
      <p:origin x="0" y="-1122"/>
    </p:cViewPr>
  </p:outlineViewPr>
  <p:notesTextViewPr>
    <p:cViewPr>
      <p:scale>
        <a:sx n="1" d="1"/>
        <a:sy n="1" d="1"/>
      </p:scale>
      <p:origin x="0" y="0"/>
    </p:cViewPr>
  </p:notesTextViewPr>
  <p:notesViewPr>
    <p:cSldViewPr snapToGrid="0" showGuides="1">
      <p:cViewPr varScale="1">
        <p:scale>
          <a:sx n="81" d="100"/>
          <a:sy n="81" d="100"/>
        </p:scale>
        <p:origin x="2322"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mmanuel Archibong" userId="0b42f999389337f1" providerId="LiveId" clId="{71F33207-0354-450D-BBBC-155DAFE249C3}"/>
    <pc:docChg chg="modSld">
      <pc:chgData name="Emmanuel Archibong" userId="0b42f999389337f1" providerId="LiveId" clId="{71F33207-0354-450D-BBBC-155DAFE249C3}" dt="2024-10-27T21:16:48.868" v="1" actId="20577"/>
      <pc:docMkLst>
        <pc:docMk/>
      </pc:docMkLst>
      <pc:sldChg chg="modSp mod">
        <pc:chgData name="Emmanuel Archibong" userId="0b42f999389337f1" providerId="LiveId" clId="{71F33207-0354-450D-BBBC-155DAFE249C3}" dt="2024-10-27T21:16:48.868" v="1" actId="20577"/>
        <pc:sldMkLst>
          <pc:docMk/>
          <pc:sldMk cId="32494612" sldId="336"/>
        </pc:sldMkLst>
        <pc:spChg chg="mod">
          <ac:chgData name="Emmanuel Archibong" userId="0b42f999389337f1" providerId="LiveId" clId="{71F33207-0354-450D-BBBC-155DAFE249C3}" dt="2024-10-27T21:16:48.868" v="1" actId="20577"/>
          <ac:spMkLst>
            <pc:docMk/>
            <pc:sldMk cId="32494612" sldId="336"/>
            <ac:spMk id="5" creationId="{3440DA25-F620-152B-DE9E-776F7B74DFF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8966F2-21A1-4B2B-ADA6-AD0BB447B7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51468BB-CDF2-4507-B4EF-7B369D307A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FAAC3A-BD1F-4A00-9099-74B95789FE00}" type="datetimeFigureOut">
              <a:rPr lang="en-GB" smtClean="0"/>
              <a:pPr/>
              <a:t>04/11/2024</a:t>
            </a:fld>
            <a:endParaRPr lang="en-GB"/>
          </a:p>
        </p:txBody>
      </p:sp>
      <p:sp>
        <p:nvSpPr>
          <p:cNvPr id="4" name="Footer Placeholder 3">
            <a:extLst>
              <a:ext uri="{FF2B5EF4-FFF2-40B4-BE49-F238E27FC236}">
                <a16:creationId xmlns:a16="http://schemas.microsoft.com/office/drawing/2014/main" id="{904BCF7D-6037-48D3-84E5-56B8B05521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619E732-656C-4BB5-ACCB-1568C5C66D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51D9-0FEB-436E-9280-D6033F603547}" type="slidenum">
              <a:rPr lang="en-GB" smtClean="0"/>
              <a:pPr/>
              <a:t>‹#›</a:t>
            </a:fld>
            <a:endParaRPr lang="en-GB"/>
          </a:p>
        </p:txBody>
      </p:sp>
    </p:spTree>
    <p:extLst>
      <p:ext uri="{BB962C8B-B14F-4D97-AF65-F5344CB8AC3E}">
        <p14:creationId xmlns:p14="http://schemas.microsoft.com/office/powerpoint/2010/main" val="22705840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59C8A-39F6-4045-9163-4042C4C26B15}" type="datetimeFigureOut">
              <a:rPr lang="en-GB" smtClean="0"/>
              <a:pPr/>
              <a:t>04/11/2024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70952-48CC-46D7-9FCD-59FAD40CC025}" type="slidenum">
              <a:rPr lang="en-GB" smtClean="0"/>
              <a:pPr/>
              <a:t>‹#›</a:t>
            </a:fld>
            <a:endParaRPr lang="en-GB"/>
          </a:p>
        </p:txBody>
      </p:sp>
    </p:spTree>
    <p:extLst>
      <p:ext uri="{BB962C8B-B14F-4D97-AF65-F5344CB8AC3E}">
        <p14:creationId xmlns:p14="http://schemas.microsoft.com/office/powerpoint/2010/main" val="3010231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Before specifying your Research Question you must define the type of data you are analysing.  Are the variables you select interval data (measurement data you can divide, multiple, etc),  OR are they ordinal (there is a definite order but the intervals between each variable are not necessarily equal, or the terms might be subjective like in a </a:t>
            </a:r>
            <a:r>
              <a:rPr lang="en-GB" dirty="0" err="1"/>
              <a:t>likert</a:t>
            </a:r>
            <a:r>
              <a:rPr lang="en-GB" dirty="0"/>
              <a:t> scale); OR are they just categorical/nominal (Items such as film names, cities, etc., that you can count numbers of occurrences?   You also need to understand whether the variable is either dependent or independent and this will vary according to the context. Independent variables may cause an effect, whereas the dependent variable might be effected by the independent variable.  Check the lecture notes on the RQ for more information and examples.  </a:t>
            </a:r>
          </a:p>
          <a:p>
            <a:endParaRPr lang="en-GB" dirty="0"/>
          </a:p>
          <a:p>
            <a:r>
              <a:rPr lang="en-GB" dirty="0"/>
              <a:t>You will get only one opportunity to present your Research Question ahead of the submission date.  Have your questions ready, and be ready to take notes on feedback.</a:t>
            </a:r>
          </a:p>
        </p:txBody>
      </p:sp>
      <p:sp>
        <p:nvSpPr>
          <p:cNvPr id="4" name="Slide Number Placeholder 3"/>
          <p:cNvSpPr>
            <a:spLocks noGrp="1"/>
          </p:cNvSpPr>
          <p:nvPr>
            <p:ph type="sldNum" sz="quarter" idx="5"/>
          </p:nvPr>
        </p:nvSpPr>
        <p:spPr/>
        <p:txBody>
          <a:bodyPr/>
          <a:lstStyle/>
          <a:p>
            <a:fld id="{30370952-48CC-46D7-9FCD-59FAD40CC025}" type="slidenum">
              <a:rPr lang="en-GB" smtClean="0"/>
              <a:pPr/>
              <a:t>2</a:t>
            </a:fld>
            <a:endParaRPr lang="en-GB"/>
          </a:p>
        </p:txBody>
      </p:sp>
    </p:spTree>
    <p:extLst>
      <p:ext uri="{BB962C8B-B14F-4D97-AF65-F5344CB8AC3E}">
        <p14:creationId xmlns:p14="http://schemas.microsoft.com/office/powerpoint/2010/main" val="29059414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GB" baseline="0" dirty="0"/>
              <a:t>Do specific characteristics of a house determine what the price should be</a:t>
            </a:r>
          </a:p>
          <a:p>
            <a:pPr marL="228600" indent="-228600">
              <a:buAutoNum type="arabicPeriod"/>
            </a:pPr>
            <a:r>
              <a:rPr lang="en-GB" baseline="0" dirty="0"/>
              <a:t>Which of the said characteristics is the most determining factor in the price of a house</a:t>
            </a:r>
            <a:endParaRPr lang="en-GB" dirty="0"/>
          </a:p>
        </p:txBody>
      </p:sp>
      <p:sp>
        <p:nvSpPr>
          <p:cNvPr id="4" name="Slide Number Placeholder 3"/>
          <p:cNvSpPr>
            <a:spLocks noGrp="1"/>
          </p:cNvSpPr>
          <p:nvPr>
            <p:ph type="sldNum" sz="quarter" idx="5"/>
          </p:nvPr>
        </p:nvSpPr>
        <p:spPr/>
        <p:txBody>
          <a:bodyPr/>
          <a:lstStyle/>
          <a:p>
            <a:fld id="{30370952-48CC-46D7-9FCD-59FAD40CC025}" type="slidenum">
              <a:rPr lang="en-GB" smtClean="0"/>
              <a:pPr/>
              <a:t>3</a:t>
            </a:fld>
            <a:endParaRPr lang="en-GB"/>
          </a:p>
        </p:txBody>
      </p:sp>
    </p:spTree>
    <p:extLst>
      <p:ext uri="{BB962C8B-B14F-4D97-AF65-F5344CB8AC3E}">
        <p14:creationId xmlns:p14="http://schemas.microsoft.com/office/powerpoint/2010/main" val="26679849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University of Hertfordshire logo">
            <a:extLst>
              <a:ext uri="{FF2B5EF4-FFF2-40B4-BE49-F238E27FC236}">
                <a16:creationId xmlns:a16="http://schemas.microsoft.com/office/drawing/2014/main" id="{16E4BB13-0D32-AA4A-BF91-2B76A7C18242}"/>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844000" y="2854800"/>
            <a:ext cx="6501600" cy="1153633"/>
          </a:xfrm>
          <a:prstGeom prst="rect">
            <a:avLst/>
          </a:prstGeom>
        </p:spPr>
      </p:pic>
    </p:spTree>
    <p:extLst>
      <p:ext uri="{BB962C8B-B14F-4D97-AF65-F5344CB8AC3E}">
        <p14:creationId xmlns:p14="http://schemas.microsoft.com/office/powerpoint/2010/main" val="2758167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B53D-9933-445F-9B68-E730EB38A5A9}"/>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bg1"/>
                </a:solidFill>
              </a:defRPr>
            </a:lvl1pPr>
          </a:lstStyle>
          <a:p>
            <a:r>
              <a:rPr lang="en-US" dirty="0"/>
              <a:t>Click to edit master title</a:t>
            </a:r>
            <a:endParaRPr lang="en-GB" dirty="0"/>
          </a:p>
        </p:txBody>
      </p:sp>
      <p:sp>
        <p:nvSpPr>
          <p:cNvPr id="3" name="Subtitle 2">
            <a:extLst>
              <a:ext uri="{FF2B5EF4-FFF2-40B4-BE49-F238E27FC236}">
                <a16:creationId xmlns:a16="http://schemas.microsoft.com/office/drawing/2014/main" id="{E2C6B9F5-608F-4534-96F0-C3A5E1A638A6}"/>
              </a:ext>
            </a:extLst>
          </p:cNvPr>
          <p:cNvSpPr>
            <a:spLocks noGrp="1"/>
          </p:cNvSpPr>
          <p:nvPr>
            <p:ph type="subTitle" idx="1" hasCustomPrompt="1"/>
          </p:nvPr>
        </p:nvSpPr>
        <p:spPr>
          <a:xfrm>
            <a:off x="954000" y="1890000"/>
            <a:ext cx="10031156" cy="360000"/>
          </a:xfrm>
        </p:spPr>
        <p:txBody>
          <a:bodyPr lIns="0" tIns="0" rIns="0" bIns="0">
            <a:noAutofit/>
          </a:bodyPr>
          <a:lstStyle>
            <a:lvl1pPr marL="0" indent="0" algn="l">
              <a:buNone/>
              <a:defRPr sz="3600" b="1" kern="30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a:t>
            </a:r>
            <a:endParaRPr lang="en-GB" dirty="0"/>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dirty="0"/>
              <a:t>PRESENTATION TITLE (ADD VIA INSERT, HEADER &amp; FOOTER)</a:t>
            </a:r>
            <a:endParaRPr lang="en-GB" dirty="0">
              <a:solidFill>
                <a:schemeClr val="bg1"/>
              </a:solidFill>
            </a:endParaRP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dirty="0"/>
          </a:p>
        </p:txBody>
      </p:sp>
      <p:pic>
        <p:nvPicPr>
          <p:cNvPr id="8" name="Picture 7" descr="A picture containing drawing&#10;&#10;Description automatically generated">
            <a:extLst>
              <a:ext uri="{FF2B5EF4-FFF2-40B4-BE49-F238E27FC236}">
                <a16:creationId xmlns:a16="http://schemas.microsoft.com/office/drawing/2014/main" id="{BCCF2CA0-CCE3-4304-8F31-4D1CC50BCBD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4000" y="5511600"/>
            <a:ext cx="2242800" cy="397959"/>
          </a:xfrm>
          <a:prstGeom prst="rect">
            <a:avLst/>
          </a:prstGeom>
        </p:spPr>
      </p:pic>
    </p:spTree>
    <p:extLst>
      <p:ext uri="{BB962C8B-B14F-4D97-AF65-F5344CB8AC3E}">
        <p14:creationId xmlns:p14="http://schemas.microsoft.com/office/powerpoint/2010/main" val="171361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2C6B9F5-608F-4534-96F0-C3A5E1A638A6}"/>
              </a:ext>
            </a:extLst>
          </p:cNvPr>
          <p:cNvSpPr>
            <a:spLocks noGrp="1"/>
          </p:cNvSpPr>
          <p:nvPr>
            <p:ph type="subTitle" idx="1"/>
          </p:nvPr>
        </p:nvSpPr>
        <p:spPr>
          <a:xfrm>
            <a:off x="954000" y="1890000"/>
            <a:ext cx="7200000" cy="360000"/>
          </a:xfrm>
        </p:spPr>
        <p:txBody>
          <a:bodyPr lIns="0" tIns="0" rIns="0" bIns="0">
            <a:noAutofit/>
          </a:bodyPr>
          <a:lstStyle>
            <a:lvl1pPr marL="0" indent="0" algn="l">
              <a:buNone/>
              <a:defRPr sz="3600" b="1" kern="3000" spc="-1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91022"/>
            <a:ext cx="7176911" cy="230832"/>
          </a:xfrm>
        </p:spPr>
        <p:txBody>
          <a:bodyPr>
            <a:noAutofit/>
          </a:bodyPr>
          <a:lstStyle>
            <a:lvl1pPr>
              <a:defRPr>
                <a:solidFill>
                  <a:srgbClr val="8F9898"/>
                </a:solidFill>
              </a:defRPr>
            </a:lvl1pPr>
          </a:lstStyle>
          <a:p>
            <a:r>
              <a:rPr lang="en-GB" dirty="0"/>
              <a:t>PRESENTATION TITLE (ADD VIA INSERT, HEADER &amp; FOOTER)</a:t>
            </a: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91022"/>
            <a:ext cx="622800" cy="230832"/>
          </a:xfrm>
        </p:spPr>
        <p:txBody>
          <a:bodyPr wrap="square">
            <a:noAutofit/>
          </a:bodyPr>
          <a:lstStyle>
            <a:lvl1pPr>
              <a:defRPr>
                <a:solidFill>
                  <a:srgbClr val="8F9898"/>
                </a:solidFill>
              </a:defRPr>
            </a:lvl1pPr>
          </a:lstStyle>
          <a:p>
            <a:fld id="{E4D355CA-84B7-41B1-B164-8BB439CC7C6B}" type="slidenum">
              <a:rPr lang="en-GB" smtClean="0"/>
              <a:pPr/>
              <a:t>‹#›</a:t>
            </a:fld>
            <a:endParaRPr lang="en-GB" dirty="0"/>
          </a:p>
        </p:txBody>
      </p:sp>
      <p:sp>
        <p:nvSpPr>
          <p:cNvPr id="9" name="Title 1">
            <a:extLst>
              <a:ext uri="{FF2B5EF4-FFF2-40B4-BE49-F238E27FC236}">
                <a16:creationId xmlns:a16="http://schemas.microsoft.com/office/drawing/2014/main" id="{E9449821-0D0D-644D-97A3-D56097A9C6DA}"/>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tx1"/>
                </a:solidFill>
              </a:defRPr>
            </a:lvl1pPr>
          </a:lstStyle>
          <a:p>
            <a:r>
              <a:rPr lang="en-US" dirty="0"/>
              <a:t>Click to edit master title</a:t>
            </a:r>
            <a:endParaRPr lang="en-GB" dirty="0"/>
          </a:p>
        </p:txBody>
      </p:sp>
      <p:sp>
        <p:nvSpPr>
          <p:cNvPr id="10" name="Rectangle 9">
            <a:extLst>
              <a:ext uri="{FF2B5EF4-FFF2-40B4-BE49-F238E27FC236}">
                <a16:creationId xmlns:a16="http://schemas.microsoft.com/office/drawing/2014/main" id="{44F6EB17-8019-7B4E-B53C-76B057A7C31F}"/>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pic>
        <p:nvPicPr>
          <p:cNvPr id="11" name="Picture 10">
            <a:extLst>
              <a:ext uri="{FF2B5EF4-FFF2-40B4-BE49-F238E27FC236}">
                <a16:creationId xmlns:a16="http://schemas.microsoft.com/office/drawing/2014/main" id="{0503EF50-F00F-9643-BE53-F0A5272FC4B2}"/>
              </a:ext>
            </a:extLst>
          </p:cNvPr>
          <p:cNvPicPr>
            <a:picLocks noChangeAspect="1"/>
          </p:cNvPicPr>
          <p:nvPr userDrawn="1"/>
        </p:nvPicPr>
        <p:blipFill>
          <a:blip r:embed="rId2"/>
          <a:stretch>
            <a:fillRect/>
          </a:stretch>
        </p:blipFill>
        <p:spPr>
          <a:xfrm>
            <a:off x="953998" y="5517266"/>
            <a:ext cx="2244881" cy="396903"/>
          </a:xfrm>
          <a:prstGeom prst="rect">
            <a:avLst/>
          </a:prstGeom>
        </p:spPr>
      </p:pic>
    </p:spTree>
    <p:extLst>
      <p:ext uri="{BB962C8B-B14F-4D97-AF65-F5344CB8AC3E}">
        <p14:creationId xmlns:p14="http://schemas.microsoft.com/office/powerpoint/2010/main" val="4108207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and 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81FBDFA-876B-4255-A301-F62F1EDD8D66}"/>
              </a:ext>
            </a:extLst>
          </p:cNvPr>
          <p:cNvSpPr>
            <a:spLocks noGrp="1"/>
          </p:cNvSpPr>
          <p:nvPr>
            <p:ph sz="half" idx="1" hasCustomPrompt="1"/>
          </p:nvPr>
        </p:nvSpPr>
        <p:spPr>
          <a:xfrm>
            <a:off x="973668" y="2717444"/>
            <a:ext cx="4903200"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lvl="0"/>
            <a:r>
              <a:rPr lang="en-GB" dirty="0"/>
              <a:t>Add Text</a:t>
            </a:r>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6336000" y="2717444"/>
            <a:ext cx="4456800" cy="3175200"/>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b="0" dirty="0"/>
              <a:t>Add Text</a:t>
            </a:r>
            <a:endParaRPr lang="en-GB" dirty="0"/>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dirty="0"/>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62A19DAE-53D8-4F04-A4B9-B6EDFC23886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Tree>
    <p:extLst>
      <p:ext uri="{BB962C8B-B14F-4D97-AF65-F5344CB8AC3E}">
        <p14:creationId xmlns:p14="http://schemas.microsoft.com/office/powerpoint/2010/main" val="1288463762"/>
      </p:ext>
    </p:extLst>
  </p:cSld>
  <p:clrMapOvr>
    <a:masterClrMapping/>
  </p:clrMapOvr>
  <p:extLst>
    <p:ext uri="{DCECCB84-F9BA-43D5-87BE-67443E8EF086}">
      <p15:sldGuideLst xmlns:p15="http://schemas.microsoft.com/office/powerpoint/2012/main">
        <p15:guide id="2" pos="6805" userDrawn="1">
          <p15:clr>
            <a:srgbClr val="FBAE40"/>
          </p15:clr>
        </p15:guide>
        <p15:guide id="3" pos="3989" userDrawn="1">
          <p15:clr>
            <a:srgbClr val="FBAE40"/>
          </p15:clr>
        </p15:guide>
        <p15:guide id="4" pos="370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p:nvPr>
        </p:nvSpPr>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2717600"/>
            <a:ext cx="10251722"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dirty="0"/>
              <a:t>Add Text</a:t>
            </a:r>
          </a:p>
        </p:txBody>
      </p:sp>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dirty="0"/>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1322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Lar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hasCustomPrompt="1"/>
          </p:nvPr>
        </p:nvSpPr>
        <p:spPr>
          <a:xfrm>
            <a:off x="954000" y="775255"/>
            <a:ext cx="7361569" cy="365125"/>
          </a:xfrm>
        </p:spPr>
        <p:txBody>
          <a:bodyPr/>
          <a:lstStyle/>
          <a:p>
            <a:r>
              <a:rPr lang="en-US" dirty="0"/>
              <a:t>Click to add title.</a:t>
            </a:r>
            <a:endParaRPr lang="en-GB" dirty="0"/>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dirty="0"/>
              <a:t>Add Text</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5730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arge blu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lvl1pPr>
              <a:defRPr>
                <a:solidFill>
                  <a:schemeClr val="bg1"/>
                </a:solidFill>
              </a:defRPr>
            </a:lvl1pPr>
          </a:lstStyle>
          <a:p>
            <a:fld id="{E4D355CA-84B7-41B1-B164-8BB439CC7C6B}" type="slidenum">
              <a:rPr lang="en-GB" smtClean="0"/>
              <a:pPr/>
              <a:t>‹#›</a:t>
            </a:fld>
            <a:endParaRPr lang="en-GB" dirty="0"/>
          </a:p>
        </p:txBody>
      </p:sp>
      <p:sp>
        <p:nvSpPr>
          <p:cNvPr id="8" name="Content Placeholder 2">
            <a:extLst>
              <a:ext uri="{FF2B5EF4-FFF2-40B4-BE49-F238E27FC236}">
                <a16:creationId xmlns:a16="http://schemas.microsoft.com/office/drawing/2014/main" id="{B09D4C03-E8B1-644E-949B-F7AF91181833}"/>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chemeClr val="bg1"/>
                </a:solidFill>
              </a:defRPr>
            </a:lvl1pPr>
            <a:lvl2pPr>
              <a:defRPr lang="en-US" dirty="0" smtClean="0">
                <a:solidFill>
                  <a:schemeClr val="bg1"/>
                </a:solidFill>
              </a:defRPr>
            </a:lvl2pPr>
            <a:lvl3pPr>
              <a:defRPr lang="en-GB" dirty="0">
                <a:solidFill>
                  <a:schemeClr val="bg1"/>
                </a:solidFill>
              </a:defRPr>
            </a:lvl3pPr>
            <a:lvl4pPr>
              <a:defRPr>
                <a:solidFill>
                  <a:schemeClr val="bg1"/>
                </a:solidFill>
              </a:defRPr>
            </a:lvl4pPr>
            <a:lvl5pPr>
              <a:defRPr>
                <a:solidFill>
                  <a:schemeClr val="bg1"/>
                </a:solidFill>
              </a:defRPr>
            </a:lvl5pPr>
          </a:lstStyle>
          <a:p>
            <a:pPr lvl="0"/>
            <a:r>
              <a:rPr lang="en-US" dirty="0"/>
              <a:t>Add Text</a:t>
            </a:r>
            <a:endParaRPr lang="en-GB" dirty="0"/>
          </a:p>
        </p:txBody>
      </p:sp>
      <p:sp>
        <p:nvSpPr>
          <p:cNvPr id="5" name="Title 1">
            <a:extLst>
              <a:ext uri="{FF2B5EF4-FFF2-40B4-BE49-F238E27FC236}">
                <a16:creationId xmlns:a16="http://schemas.microsoft.com/office/drawing/2014/main" id="{02EDA17D-AAE6-954F-93C6-90B8D7B80BD1}"/>
              </a:ext>
            </a:extLst>
          </p:cNvPr>
          <p:cNvSpPr>
            <a:spLocks noGrp="1"/>
          </p:cNvSpPr>
          <p:nvPr>
            <p:ph type="title" hasCustomPrompt="1"/>
          </p:nvPr>
        </p:nvSpPr>
        <p:spPr>
          <a:xfrm>
            <a:off x="954000" y="775255"/>
            <a:ext cx="7361569" cy="365125"/>
          </a:xfrm>
        </p:spPr>
        <p:txBody>
          <a:bodyPr/>
          <a:lstStyle>
            <a:lvl1pPr>
              <a:defRPr>
                <a:solidFill>
                  <a:schemeClr val="bg1"/>
                </a:solidFill>
              </a:defRPr>
            </a:lvl1pPr>
          </a:lstStyle>
          <a:p>
            <a:r>
              <a:rPr lang="en-US" dirty="0"/>
              <a:t>Click to add title.</a:t>
            </a:r>
            <a:endParaRPr lang="en-GB" dirty="0"/>
          </a:p>
        </p:txBody>
      </p:sp>
    </p:spTree>
    <p:extLst>
      <p:ext uri="{BB962C8B-B14F-4D97-AF65-F5344CB8AC3E}">
        <p14:creationId xmlns:p14="http://schemas.microsoft.com/office/powerpoint/2010/main" val="1840620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Image +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dirty="0"/>
              <a:t>Click to edit Master title style</a:t>
            </a:r>
            <a:endParaRPr lang="en-GB" dirty="0"/>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7835952" y="2728800"/>
            <a:ext cx="2959200"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GB" spc="-100" baseline="0" dirty="0"/>
            </a:lvl4pPr>
            <a:lvl5pPr>
              <a:defRPr spc="-100" baseline="0">
                <a:solidFill>
                  <a:schemeClr val="accent4"/>
                </a:solidFill>
              </a:defRPr>
            </a:lvl5pPr>
          </a:lstStyle>
          <a:p>
            <a:pPr lvl="0"/>
            <a:r>
              <a:rPr lang="en-GB" b="0" dirty="0"/>
              <a:t>Add Text</a:t>
            </a:r>
            <a:endParaRPr lang="en-GB" dirty="0"/>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dirty="0"/>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10" name="Picture Placeholder 9">
            <a:extLst>
              <a:ext uri="{FF2B5EF4-FFF2-40B4-BE49-F238E27FC236}">
                <a16:creationId xmlns:a16="http://schemas.microsoft.com/office/drawing/2014/main" id="{874043F1-6F14-49BD-83CA-12B559ABC101}"/>
              </a:ext>
            </a:extLst>
          </p:cNvPr>
          <p:cNvSpPr>
            <a:spLocks noGrp="1"/>
          </p:cNvSpPr>
          <p:nvPr>
            <p:ph type="pic" sz="quarter" idx="13"/>
          </p:nvPr>
        </p:nvSpPr>
        <p:spPr>
          <a:xfrm>
            <a:off x="954088" y="2728913"/>
            <a:ext cx="6400800" cy="4129087"/>
          </a:xfrm>
        </p:spPr>
        <p:txBody>
          <a:bodyPr/>
          <a:lstStyle/>
          <a:p>
            <a:endParaRPr lang="en-GB"/>
          </a:p>
        </p:txBody>
      </p:sp>
      <p:sp>
        <p:nvSpPr>
          <p:cNvPr id="11" name="Rectangle 10">
            <a:extLst>
              <a:ext uri="{FF2B5EF4-FFF2-40B4-BE49-F238E27FC236}">
                <a16:creationId xmlns:a16="http://schemas.microsoft.com/office/drawing/2014/main" id="{4B51C537-0174-43E5-8B81-C80AF1D06831}"/>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4113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2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dirty="0"/>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039FCF96-B7D6-4CCD-A4AE-46A67249D3B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9">
            <a:extLst>
              <a:ext uri="{FF2B5EF4-FFF2-40B4-BE49-F238E27FC236}">
                <a16:creationId xmlns:a16="http://schemas.microsoft.com/office/drawing/2014/main" id="{741F3B7A-B2BF-40FC-8EB2-F1C37D316488}"/>
              </a:ext>
            </a:extLst>
          </p:cNvPr>
          <p:cNvSpPr>
            <a:spLocks noGrp="1"/>
          </p:cNvSpPr>
          <p:nvPr>
            <p:ph sz="quarter" idx="13" hasCustomPrompt="1"/>
          </p:nvPr>
        </p:nvSpPr>
        <p:spPr>
          <a:xfrm>
            <a:off x="953999"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dirty="0"/>
              <a:t>Add Text</a:t>
            </a:r>
            <a:endParaRPr lang="en-GB" dirty="0"/>
          </a:p>
        </p:txBody>
      </p:sp>
      <p:sp>
        <p:nvSpPr>
          <p:cNvPr id="9" name="Content Placeholder 9">
            <a:extLst>
              <a:ext uri="{FF2B5EF4-FFF2-40B4-BE49-F238E27FC236}">
                <a16:creationId xmlns:a16="http://schemas.microsoft.com/office/drawing/2014/main" id="{75B7A667-B99F-7A41-AAC3-ED24B9B1D92E}"/>
              </a:ext>
            </a:extLst>
          </p:cNvPr>
          <p:cNvSpPr>
            <a:spLocks noGrp="1"/>
          </p:cNvSpPr>
          <p:nvPr>
            <p:ph sz="quarter" idx="14" hasCustomPrompt="1"/>
          </p:nvPr>
        </p:nvSpPr>
        <p:spPr>
          <a:xfrm>
            <a:off x="8278804"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dirty="0"/>
              <a:t>Add Text</a:t>
            </a:r>
            <a:endParaRPr lang="en-GB" dirty="0"/>
          </a:p>
        </p:txBody>
      </p:sp>
      <p:sp>
        <p:nvSpPr>
          <p:cNvPr id="11" name="Content Placeholder 9">
            <a:extLst>
              <a:ext uri="{FF2B5EF4-FFF2-40B4-BE49-F238E27FC236}">
                <a16:creationId xmlns:a16="http://schemas.microsoft.com/office/drawing/2014/main" id="{93C1FF47-695D-B348-AF37-1ADF5736FA9E}"/>
              </a:ext>
            </a:extLst>
          </p:cNvPr>
          <p:cNvSpPr>
            <a:spLocks noGrp="1"/>
          </p:cNvSpPr>
          <p:nvPr>
            <p:ph sz="quarter" idx="15" hasCustomPrompt="1"/>
          </p:nvPr>
        </p:nvSpPr>
        <p:spPr>
          <a:xfrm>
            <a:off x="4613975"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dirty="0"/>
              <a:t>Add Text</a:t>
            </a:r>
            <a:endParaRPr lang="en-GB" dirty="0"/>
          </a:p>
        </p:txBody>
      </p:sp>
    </p:spTree>
    <p:extLst>
      <p:ext uri="{BB962C8B-B14F-4D97-AF65-F5344CB8AC3E}">
        <p14:creationId xmlns:p14="http://schemas.microsoft.com/office/powerpoint/2010/main" val="896047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accent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307C322-846C-9045-AD91-A93C82FC5AAF}"/>
              </a:ext>
            </a:extLst>
          </p:cNvPr>
          <p:cNvSpPr>
            <a:spLocks noGrp="1"/>
          </p:cNvSpPr>
          <p:nvPr>
            <p:ph type="pic" sz="quarter" idx="10" hasCustomPrompt="1"/>
          </p:nvPr>
        </p:nvSpPr>
        <p:spPr>
          <a:xfrm>
            <a:off x="0" y="0"/>
            <a:ext cx="12192000" cy="6858000"/>
          </a:xfrm>
        </p:spPr>
        <p:txBody>
          <a:bodyPr/>
          <a:lstStyle>
            <a:lvl1pPr>
              <a:defRPr>
                <a:solidFill>
                  <a:schemeClr val="bg1"/>
                </a:solidFill>
              </a:defRPr>
            </a:lvl1pPr>
          </a:lstStyle>
          <a:p>
            <a:r>
              <a:rPr lang="en-US" dirty="0"/>
              <a:t>Picture</a:t>
            </a:r>
          </a:p>
        </p:txBody>
      </p:sp>
    </p:spTree>
    <p:extLst>
      <p:ext uri="{BB962C8B-B14F-4D97-AF65-F5344CB8AC3E}">
        <p14:creationId xmlns:p14="http://schemas.microsoft.com/office/powerpoint/2010/main" val="292035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Video">
    <p:bg>
      <p:bgPr>
        <a:solidFill>
          <a:schemeClr val="accent1"/>
        </a:solidFill>
        <a:effectLst/>
      </p:bgPr>
    </p:bg>
    <p:spTree>
      <p:nvGrpSpPr>
        <p:cNvPr id="1" name=""/>
        <p:cNvGrpSpPr/>
        <p:nvPr/>
      </p:nvGrpSpPr>
      <p:grpSpPr>
        <a:xfrm>
          <a:off x="0" y="0"/>
          <a:ext cx="0" cy="0"/>
          <a:chOff x="0" y="0"/>
          <a:chExt cx="0" cy="0"/>
        </a:xfrm>
      </p:grpSpPr>
      <p:sp>
        <p:nvSpPr>
          <p:cNvPr id="9" name="Media Placeholder 8">
            <a:extLst>
              <a:ext uri="{FF2B5EF4-FFF2-40B4-BE49-F238E27FC236}">
                <a16:creationId xmlns:a16="http://schemas.microsoft.com/office/drawing/2014/main" id="{9ABCF9A5-761F-434B-BBB5-D788CB1E79D8}"/>
              </a:ext>
            </a:extLst>
          </p:cNvPr>
          <p:cNvSpPr>
            <a:spLocks noGrp="1"/>
          </p:cNvSpPr>
          <p:nvPr>
            <p:ph type="media" sz="quarter" idx="10"/>
          </p:nvPr>
        </p:nvSpPr>
        <p:spPr>
          <a:xfrm>
            <a:off x="140400" y="140400"/>
            <a:ext cx="11916000" cy="6580800"/>
          </a:xfrm>
          <a:solidFill>
            <a:schemeClr val="bg1"/>
          </a:solidFill>
        </p:spPr>
        <p:txBody>
          <a:bodyPr/>
          <a:lstStyle/>
          <a:p>
            <a:endParaRPr lang="en-GB"/>
          </a:p>
        </p:txBody>
      </p:sp>
    </p:spTree>
    <p:extLst>
      <p:ext uri="{BB962C8B-B14F-4D97-AF65-F5344CB8AC3E}">
        <p14:creationId xmlns:p14="http://schemas.microsoft.com/office/powerpoint/2010/main" val="3202809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s and text">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dirty="0"/>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699880E3-4DE3-A642-9738-DF49DDCC9AC5}"/>
              </a:ext>
            </a:extLst>
          </p:cNvPr>
          <p:cNvSpPr>
            <a:spLocks noGrp="1"/>
          </p:cNvSpPr>
          <p:nvPr>
            <p:ph idx="18" hasCustomPrompt="1"/>
          </p:nvPr>
        </p:nvSpPr>
        <p:spPr>
          <a:xfrm>
            <a:off x="970139" y="4079342"/>
            <a:ext cx="3144661" cy="2252134"/>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dirty="0"/>
              <a:t>Add Text</a:t>
            </a:r>
          </a:p>
        </p:txBody>
      </p:sp>
      <p:sp>
        <p:nvSpPr>
          <p:cNvPr id="17" name="Content Placeholder 2">
            <a:extLst>
              <a:ext uri="{FF2B5EF4-FFF2-40B4-BE49-F238E27FC236}">
                <a16:creationId xmlns:a16="http://schemas.microsoft.com/office/drawing/2014/main" id="{CF37D495-D835-8E4B-A177-5E12F893DDCA}"/>
              </a:ext>
            </a:extLst>
          </p:cNvPr>
          <p:cNvSpPr>
            <a:spLocks noGrp="1"/>
          </p:cNvSpPr>
          <p:nvPr>
            <p:ph idx="19" hasCustomPrompt="1"/>
          </p:nvPr>
        </p:nvSpPr>
        <p:spPr>
          <a:xfrm>
            <a:off x="8077200"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dirty="0"/>
              <a:t>Add </a:t>
            </a:r>
            <a:r>
              <a:rPr lang="en-US" dirty="0"/>
              <a:t>Text</a:t>
            </a:r>
            <a:endParaRPr lang="en-GB" dirty="0"/>
          </a:p>
        </p:txBody>
      </p:sp>
      <p:sp>
        <p:nvSpPr>
          <p:cNvPr id="18" name="Content Placeholder 2">
            <a:extLst>
              <a:ext uri="{FF2B5EF4-FFF2-40B4-BE49-F238E27FC236}">
                <a16:creationId xmlns:a16="http://schemas.microsoft.com/office/drawing/2014/main" id="{A6804C7E-983C-9246-90C0-AF8A0CE2CA84}"/>
              </a:ext>
            </a:extLst>
          </p:cNvPr>
          <p:cNvSpPr>
            <a:spLocks noGrp="1"/>
          </p:cNvSpPr>
          <p:nvPr>
            <p:ph idx="20" hasCustomPrompt="1"/>
          </p:nvPr>
        </p:nvSpPr>
        <p:spPr>
          <a:xfrm>
            <a:off x="4523669"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dirty="0"/>
              <a:t>Add </a:t>
            </a:r>
            <a:r>
              <a:rPr lang="en-US" dirty="0"/>
              <a:t>Text</a:t>
            </a:r>
          </a:p>
        </p:txBody>
      </p:sp>
      <p:sp>
        <p:nvSpPr>
          <p:cNvPr id="8" name="Picture Placeholder 7">
            <a:extLst>
              <a:ext uri="{FF2B5EF4-FFF2-40B4-BE49-F238E27FC236}">
                <a16:creationId xmlns:a16="http://schemas.microsoft.com/office/drawing/2014/main" id="{84410427-8F1D-7541-9C05-AFDD3531678D}"/>
              </a:ext>
            </a:extLst>
          </p:cNvPr>
          <p:cNvSpPr>
            <a:spLocks noGrp="1"/>
          </p:cNvSpPr>
          <p:nvPr>
            <p:ph type="pic" sz="quarter" idx="23"/>
          </p:nvPr>
        </p:nvSpPr>
        <p:spPr>
          <a:xfrm>
            <a:off x="1462175" y="1640942"/>
            <a:ext cx="2160587" cy="2160588"/>
          </a:xfrm>
        </p:spPr>
        <p:txBody>
          <a:bodyPr/>
          <a:lstStyle/>
          <a:p>
            <a:endParaRPr lang="en-US"/>
          </a:p>
        </p:txBody>
      </p:sp>
      <p:sp>
        <p:nvSpPr>
          <p:cNvPr id="20" name="Picture Placeholder 7">
            <a:extLst>
              <a:ext uri="{FF2B5EF4-FFF2-40B4-BE49-F238E27FC236}">
                <a16:creationId xmlns:a16="http://schemas.microsoft.com/office/drawing/2014/main" id="{8B7D5964-7A97-5742-8717-CCB747F84A08}"/>
              </a:ext>
            </a:extLst>
          </p:cNvPr>
          <p:cNvSpPr>
            <a:spLocks noGrp="1"/>
          </p:cNvSpPr>
          <p:nvPr>
            <p:ph type="pic" sz="quarter" idx="24"/>
          </p:nvPr>
        </p:nvSpPr>
        <p:spPr>
          <a:xfrm>
            <a:off x="5015705" y="1640942"/>
            <a:ext cx="2160587" cy="2160588"/>
          </a:xfrm>
        </p:spPr>
        <p:txBody>
          <a:bodyPr/>
          <a:lstStyle/>
          <a:p>
            <a:endParaRPr lang="en-US"/>
          </a:p>
        </p:txBody>
      </p:sp>
      <p:sp>
        <p:nvSpPr>
          <p:cNvPr id="21" name="Picture Placeholder 7">
            <a:extLst>
              <a:ext uri="{FF2B5EF4-FFF2-40B4-BE49-F238E27FC236}">
                <a16:creationId xmlns:a16="http://schemas.microsoft.com/office/drawing/2014/main" id="{344933FE-A401-A841-9AC3-B75285AA32D2}"/>
              </a:ext>
            </a:extLst>
          </p:cNvPr>
          <p:cNvSpPr>
            <a:spLocks noGrp="1"/>
          </p:cNvSpPr>
          <p:nvPr>
            <p:ph type="pic" sz="quarter" idx="25"/>
          </p:nvPr>
        </p:nvSpPr>
        <p:spPr>
          <a:xfrm>
            <a:off x="8569236" y="1640942"/>
            <a:ext cx="2160587" cy="2160588"/>
          </a:xfrm>
        </p:spPr>
        <p:txBody>
          <a:bodyPr/>
          <a:lstStyle/>
          <a:p>
            <a:endParaRPr lang="en-US"/>
          </a:p>
        </p:txBody>
      </p:sp>
    </p:spTree>
    <p:extLst>
      <p:ext uri="{BB962C8B-B14F-4D97-AF65-F5344CB8AC3E}">
        <p14:creationId xmlns:p14="http://schemas.microsoft.com/office/powerpoint/2010/main" val="3611631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d pag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E2CE188-32E7-4242-9E44-E8055FC030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4002" y="5511600"/>
            <a:ext cx="2242795" cy="397958"/>
          </a:xfrm>
          <a:prstGeom prst="rect">
            <a:avLst/>
          </a:prstGeom>
        </p:spPr>
      </p:pic>
      <p:sp>
        <p:nvSpPr>
          <p:cNvPr id="2" name="Title 1">
            <a:extLst>
              <a:ext uri="{FF2B5EF4-FFF2-40B4-BE49-F238E27FC236}">
                <a16:creationId xmlns:a16="http://schemas.microsoft.com/office/drawing/2014/main" id="{7381B53D-9933-445F-9B68-E730EB38A5A9}"/>
              </a:ext>
            </a:extLst>
          </p:cNvPr>
          <p:cNvSpPr>
            <a:spLocks noGrp="1"/>
          </p:cNvSpPr>
          <p:nvPr>
            <p:ph type="ctrTitle"/>
          </p:nvPr>
        </p:nvSpPr>
        <p:spPr>
          <a:xfrm>
            <a:off x="926844" y="1964352"/>
            <a:ext cx="11828559" cy="1051570"/>
          </a:xfrm>
        </p:spPr>
        <p:txBody>
          <a:bodyPr vert="horz" wrap="none" lIns="0" tIns="0" rIns="0" bIns="0" rtlCol="0" anchor="t" anchorCtr="0">
            <a:noAutofit/>
          </a:bodyPr>
          <a:lstStyle>
            <a:lvl1pPr>
              <a:lnSpc>
                <a:spcPct val="100000"/>
              </a:lnSpc>
              <a:defRPr lang="en-GB" sz="7386" spc="-300" baseline="0" dirty="0">
                <a:solidFill>
                  <a:schemeClr val="bg1"/>
                </a:solidFill>
              </a:defRPr>
            </a:lvl1pPr>
          </a:lstStyle>
          <a:p>
            <a:pPr lvl="0">
              <a:lnSpc>
                <a:spcPts val="8186"/>
              </a:lnSpc>
            </a:pPr>
            <a:r>
              <a:rPr lang="en-US" dirty="0"/>
              <a:t>Click to edit Master title style</a:t>
            </a:r>
            <a:endParaRPr lang="en-GB" dirty="0"/>
          </a:p>
        </p:txBody>
      </p:sp>
      <p:sp>
        <p:nvSpPr>
          <p:cNvPr id="5" name="Footer Placeholder 4">
            <a:extLst>
              <a:ext uri="{FF2B5EF4-FFF2-40B4-BE49-F238E27FC236}">
                <a16:creationId xmlns:a16="http://schemas.microsoft.com/office/drawing/2014/main" id="{CA2BE80A-BFEC-E24A-B510-73A571F1F04F}"/>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dirty="0"/>
              <a:t>PRESENTATION TITLE (ADD VIA INSERT, HEADER &amp; FOOTER)</a:t>
            </a:r>
            <a:endParaRPr lang="en-GB" dirty="0">
              <a:solidFill>
                <a:schemeClr val="bg1"/>
              </a:solidFill>
            </a:endParaRPr>
          </a:p>
        </p:txBody>
      </p:sp>
      <p:sp>
        <p:nvSpPr>
          <p:cNvPr id="6" name="Slide Number Placeholder 5">
            <a:extLst>
              <a:ext uri="{FF2B5EF4-FFF2-40B4-BE49-F238E27FC236}">
                <a16:creationId xmlns:a16="http://schemas.microsoft.com/office/drawing/2014/main" id="{8E5B25B4-144A-5B4A-8EAD-2022412DF2F1}"/>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dirty="0"/>
          </a:p>
        </p:txBody>
      </p:sp>
    </p:spTree>
    <p:extLst>
      <p:ext uri="{BB962C8B-B14F-4D97-AF65-F5344CB8AC3E}">
        <p14:creationId xmlns:p14="http://schemas.microsoft.com/office/powerpoint/2010/main" val="862170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A62CF-E2B4-496D-829D-DCE37260977D}"/>
              </a:ext>
            </a:extLst>
          </p:cNvPr>
          <p:cNvSpPr>
            <a:spLocks noGrp="1"/>
          </p:cNvSpPr>
          <p:nvPr>
            <p:ph type="title"/>
          </p:nvPr>
        </p:nvSpPr>
        <p:spPr>
          <a:xfrm>
            <a:off x="954000" y="1890000"/>
            <a:ext cx="10279150" cy="365125"/>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DFD84EF4-0E07-4BF3-A4AB-3E8632AA79AD}"/>
              </a:ext>
            </a:extLst>
          </p:cNvPr>
          <p:cNvSpPr>
            <a:spLocks noGrp="1"/>
          </p:cNvSpPr>
          <p:nvPr>
            <p:ph type="body" idx="1"/>
          </p:nvPr>
        </p:nvSpPr>
        <p:spPr>
          <a:xfrm>
            <a:off x="970139" y="2717600"/>
            <a:ext cx="10279150" cy="3175200"/>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GB" dirty="0"/>
              <a:t>Fourth level</a:t>
            </a:r>
          </a:p>
          <a:p>
            <a:pPr lvl="4"/>
            <a:r>
              <a:rPr lang="en-GB" b="1" dirty="0"/>
              <a:t>Fifth level</a:t>
            </a:r>
            <a:endParaRPr lang="en-GB" dirty="0"/>
          </a:p>
        </p:txBody>
      </p:sp>
      <p:sp>
        <p:nvSpPr>
          <p:cNvPr id="5" name="Footer Placeholder 4">
            <a:extLst>
              <a:ext uri="{FF2B5EF4-FFF2-40B4-BE49-F238E27FC236}">
                <a16:creationId xmlns:a16="http://schemas.microsoft.com/office/drawing/2014/main" id="{3B527A5D-B761-4C2F-97E6-5D8254424B8B}"/>
              </a:ext>
            </a:extLst>
          </p:cNvPr>
          <p:cNvSpPr>
            <a:spLocks noGrp="1"/>
          </p:cNvSpPr>
          <p:nvPr>
            <p:ph type="ftr" sz="quarter" idx="3"/>
          </p:nvPr>
        </p:nvSpPr>
        <p:spPr>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r>
              <a:rPr lang="en-GB" dirty="0"/>
              <a:t>PRESENTATION TITLE (ADD VIA INSERT, HEADER &amp; FOOTER)</a:t>
            </a:r>
          </a:p>
        </p:txBody>
      </p:sp>
      <p:sp>
        <p:nvSpPr>
          <p:cNvPr id="6" name="Slide Number Placeholder 5">
            <a:extLst>
              <a:ext uri="{FF2B5EF4-FFF2-40B4-BE49-F238E27FC236}">
                <a16:creationId xmlns:a16="http://schemas.microsoft.com/office/drawing/2014/main" id="{9CD661B1-4E4B-4F85-ACA3-C34023D70282}"/>
              </a:ext>
            </a:extLst>
          </p:cNvPr>
          <p:cNvSpPr>
            <a:spLocks noGrp="1"/>
          </p:cNvSpPr>
          <p:nvPr>
            <p:ph type="sldNum" sz="quarter" idx="4"/>
          </p:nvPr>
        </p:nvSpPr>
        <p:spPr>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fld id="{E4D355CA-84B7-41B1-B164-8BB439CC7C6B}" type="slidenum">
              <a:rPr lang="en-GB" smtClean="0"/>
              <a:pPr/>
              <a:t>‹#›</a:t>
            </a:fld>
            <a:endParaRPr lang="en-GB" dirty="0"/>
          </a:p>
        </p:txBody>
      </p:sp>
    </p:spTree>
    <p:extLst>
      <p:ext uri="{BB962C8B-B14F-4D97-AF65-F5344CB8AC3E}">
        <p14:creationId xmlns:p14="http://schemas.microsoft.com/office/powerpoint/2010/main" val="1619008365"/>
      </p:ext>
    </p:extLst>
  </p:cSld>
  <p:clrMap bg1="lt1" tx1="dk1" bg2="lt2" tx2="dk2" accent1="accent1" accent2="accent2" accent3="accent3" accent4="accent4" accent5="accent5" accent6="accent6" hlink="hlink" folHlink="folHlink"/>
  <p:sldLayoutIdLst>
    <p:sldLayoutId id="2147483675" r:id="rId1"/>
    <p:sldLayoutId id="2147483663" r:id="rId2"/>
    <p:sldLayoutId id="2147483677" r:id="rId3"/>
    <p:sldLayoutId id="2147483652" r:id="rId4"/>
    <p:sldLayoutId id="2147483682" r:id="rId5"/>
    <p:sldLayoutId id="2147483721" r:id="rId6"/>
    <p:sldLayoutId id="2147483722" r:id="rId7"/>
    <p:sldLayoutId id="2147483684" r:id="rId8"/>
    <p:sldLayoutId id="2147483685" r:id="rId9"/>
    <p:sldLayoutId id="2147483686" r:id="rId10"/>
    <p:sldLayoutId id="2147483723" r:id="rId11"/>
    <p:sldLayoutId id="2147483706" r:id="rId12"/>
    <p:sldLayoutId id="2147483697" r:id="rId13"/>
  </p:sldLayoutIdLst>
  <p:hf hdr="0" dt="0"/>
  <p:txStyles>
    <p:titleStyle>
      <a:lvl1pPr algn="l" defTabSz="914400" rtl="0" eaLnBrk="1" latinLnBrk="0" hangingPunct="1">
        <a:lnSpc>
          <a:spcPts val="3600"/>
        </a:lnSpc>
        <a:spcBef>
          <a:spcPct val="0"/>
        </a:spcBef>
        <a:buNone/>
        <a:defRPr sz="3600" b="1" kern="2000" spc="-100" baseline="0">
          <a:solidFill>
            <a:srgbClr val="203232"/>
          </a:solidFill>
          <a:latin typeface="+mj-lt"/>
          <a:ea typeface="+mj-ea"/>
          <a:cs typeface="+mj-cs"/>
        </a:defRPr>
      </a:lvl1pPr>
    </p:titleStyle>
    <p:bodyStyle>
      <a:lvl1pPr marL="0" indent="0" algn="l" defTabSz="914400" rtl="0" eaLnBrk="1" latinLnBrk="0" hangingPunct="1">
        <a:lnSpc>
          <a:spcPts val="2880"/>
        </a:lnSpc>
        <a:spcBef>
          <a:spcPts val="0"/>
        </a:spcBef>
        <a:spcAft>
          <a:spcPts val="992"/>
        </a:spcAft>
        <a:buFont typeface="Arial" panose="020B0604020202020204" pitchFamily="34" charset="0"/>
        <a:buNone/>
        <a:defRPr sz="2400" b="1" kern="2000" spc="-100" baseline="0">
          <a:solidFill>
            <a:srgbClr val="203232"/>
          </a:solidFill>
          <a:latin typeface="+mn-lt"/>
          <a:ea typeface="+mn-ea"/>
          <a:cs typeface="+mn-cs"/>
        </a:defRPr>
      </a:lvl1pPr>
      <a:lvl2pPr marL="0" indent="0" algn="l" defTabSz="914400" rtl="0" eaLnBrk="1" latinLnBrk="0" hangingPunct="1">
        <a:lnSpc>
          <a:spcPts val="2880"/>
        </a:lnSpc>
        <a:spcBef>
          <a:spcPts val="0"/>
        </a:spcBef>
        <a:spcAft>
          <a:spcPts val="992"/>
        </a:spcAft>
        <a:buFont typeface="Arial" panose="020B0604020202020204" pitchFamily="34" charset="0"/>
        <a:buNone/>
        <a:defRPr sz="2400" kern="2000" spc="-100" baseline="0">
          <a:solidFill>
            <a:srgbClr val="203232"/>
          </a:solidFill>
          <a:latin typeface="+mn-lt"/>
          <a:ea typeface="+mn-ea"/>
          <a:cs typeface="+mn-cs"/>
        </a:defRPr>
      </a:lvl2pPr>
      <a:lvl3pPr marL="216000" indent="-216000" algn="l" defTabSz="914400" rtl="0" eaLnBrk="1" latinLnBrk="0" hangingPunct="1">
        <a:lnSpc>
          <a:spcPts val="2880"/>
        </a:lnSpc>
        <a:spcBef>
          <a:spcPts val="0"/>
        </a:spcBef>
        <a:spcAft>
          <a:spcPts val="992"/>
        </a:spcAft>
        <a:buFont typeface="Arial" panose="020B0604020202020204" pitchFamily="34" charset="0"/>
        <a:buChar char="■"/>
        <a:defRPr sz="2400" kern="2000" spc="-100" baseline="0">
          <a:solidFill>
            <a:srgbClr val="203232"/>
          </a:solidFill>
          <a:latin typeface="+mn-lt"/>
          <a:ea typeface="+mn-ea"/>
          <a:cs typeface="+mn-cs"/>
        </a:defRPr>
      </a:lvl3pPr>
      <a:lvl4pPr marL="0" indent="0" algn="l" defTabSz="914400" rtl="0" eaLnBrk="1" latinLnBrk="0" hangingPunct="1">
        <a:lnSpc>
          <a:spcPts val="2160"/>
        </a:lnSpc>
        <a:spcBef>
          <a:spcPts val="0"/>
        </a:spcBef>
        <a:buFont typeface="Arial" panose="020B0604020202020204" pitchFamily="34" charset="0"/>
        <a:buNone/>
        <a:defRPr sz="1800" kern="1200">
          <a:solidFill>
            <a:srgbClr val="203232"/>
          </a:solidFill>
          <a:latin typeface="+mn-lt"/>
          <a:ea typeface="+mn-ea"/>
          <a:cs typeface="+mn-cs"/>
        </a:defRPr>
      </a:lvl4pPr>
      <a:lvl5pPr marL="0" indent="0" algn="l" defTabSz="914400" rtl="0" eaLnBrk="1" latinLnBrk="0" hangingPunct="1">
        <a:lnSpc>
          <a:spcPts val="2160"/>
        </a:lnSpc>
        <a:spcBef>
          <a:spcPts val="0"/>
        </a:spcBef>
        <a:buFont typeface="Arial" panose="020B0604020202020204" pitchFamily="34" charset="0"/>
        <a:buNone/>
        <a:defRPr sz="1800" b="1" kern="1200">
          <a:solidFill>
            <a:srgbClr val="2032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4" pos="604" userDrawn="1">
          <p15:clr>
            <a:srgbClr val="F26B43"/>
          </p15:clr>
        </p15:guide>
        <p15:guide id="5" pos="7076" userDrawn="1">
          <p15:clr>
            <a:srgbClr val="F26B43"/>
          </p15:clr>
        </p15:guide>
        <p15:guide id="6" orient="horz" pos="2160" userDrawn="1">
          <p15:clr>
            <a:srgbClr val="F26B43"/>
          </p15:clr>
        </p15:guide>
        <p15:guide id="7" orient="horz" userDrawn="1">
          <p15:clr>
            <a:srgbClr val="F26B43"/>
          </p15:clr>
        </p15:guide>
        <p15:guide id="8" orient="horz" pos="604" userDrawn="1">
          <p15:clr>
            <a:srgbClr val="F26B43"/>
          </p15:clr>
        </p15:guide>
        <p15:guide id="10" orient="horz" pos="3712" userDrawn="1">
          <p15:clr>
            <a:srgbClr val="F26B43"/>
          </p15:clr>
        </p15:guide>
        <p15:guide id="11" orient="horz" pos="11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AEE4-CC66-FE42-B0C3-2CC7AFD37D1C}"/>
              </a:ext>
            </a:extLst>
          </p:cNvPr>
          <p:cNvSpPr>
            <a:spLocks noGrp="1"/>
          </p:cNvSpPr>
          <p:nvPr>
            <p:ph type="ctrTitle"/>
          </p:nvPr>
        </p:nvSpPr>
        <p:spPr>
          <a:xfrm>
            <a:off x="841458" y="1649317"/>
            <a:ext cx="10031157" cy="3640136"/>
          </a:xfrm>
        </p:spPr>
        <p:txBody>
          <a:bodyPr>
            <a:normAutofit fontScale="90000"/>
          </a:bodyPr>
          <a:lstStyle/>
          <a:p>
            <a:pPr>
              <a:lnSpc>
                <a:spcPct val="150000"/>
              </a:lnSpc>
            </a:pPr>
            <a:r>
              <a:rPr lang="en-US" sz="6700" dirty="0" smtClean="0"/>
              <a:t>Research Question – </a:t>
            </a:r>
            <a:r>
              <a:rPr lang="en-US" dirty="0" smtClean="0"/>
              <a:t/>
            </a:r>
            <a:br>
              <a:rPr lang="en-US" dirty="0" smtClean="0"/>
            </a:br>
            <a:r>
              <a:rPr lang="en-GB" sz="3600" b="0" spc="0" dirty="0" smtClean="0">
                <a:solidFill>
                  <a:schemeClr val="tx2"/>
                </a:solidFill>
              </a:rPr>
              <a:t>Is there a correlation between the price (in dollars) and area/dimension (in square feet) of a house</a:t>
            </a:r>
            <a:r>
              <a:rPr lang="en-US" sz="4000" dirty="0" smtClean="0"/>
              <a:t/>
            </a:r>
            <a:br>
              <a:rPr lang="en-US" sz="4000" dirty="0" smtClean="0"/>
            </a:br>
            <a:r>
              <a:rPr lang="en-US" sz="2200" spc="0" dirty="0" smtClean="0"/>
              <a:t>Date</a:t>
            </a:r>
            <a:r>
              <a:rPr lang="en-US" sz="2200" dirty="0" smtClean="0"/>
              <a:t>:  </a:t>
            </a:r>
            <a:r>
              <a:rPr lang="en-US" sz="2200" b="0" spc="0" dirty="0" smtClean="0">
                <a:latin typeface="+mn-lt"/>
              </a:rPr>
              <a:t>04</a:t>
            </a:r>
            <a:r>
              <a:rPr lang="en-US" sz="2200" b="0" spc="0" dirty="0" smtClean="0">
                <a:latin typeface="+mn-lt"/>
              </a:rPr>
              <a:t>/11/24</a:t>
            </a:r>
            <a:endParaRPr lang="en-US" spc="0" dirty="0"/>
          </a:p>
        </p:txBody>
      </p:sp>
      <p:sp>
        <p:nvSpPr>
          <p:cNvPr id="3" name="Subtitle 2">
            <a:extLst>
              <a:ext uri="{FF2B5EF4-FFF2-40B4-BE49-F238E27FC236}">
                <a16:creationId xmlns:a16="http://schemas.microsoft.com/office/drawing/2014/main" id="{8275DA97-5166-7F4B-BC83-F50AC8BEDCD7}"/>
              </a:ext>
            </a:extLst>
          </p:cNvPr>
          <p:cNvSpPr>
            <a:spLocks noGrp="1"/>
          </p:cNvSpPr>
          <p:nvPr>
            <p:ph type="subTitle" idx="1"/>
          </p:nvPr>
        </p:nvSpPr>
        <p:spPr>
          <a:xfrm>
            <a:off x="942710" y="1155021"/>
            <a:ext cx="10466856" cy="360000"/>
          </a:xfrm>
        </p:spPr>
        <p:txBody>
          <a:bodyPr/>
          <a:lstStyle/>
          <a:p>
            <a:r>
              <a:rPr lang="en-US" sz="2000" dirty="0"/>
              <a:t>Group Name:      A99                                                      Name of Student Presenting: Daniel Williams</a:t>
            </a:r>
          </a:p>
        </p:txBody>
      </p:sp>
      <p:sp>
        <p:nvSpPr>
          <p:cNvPr id="4" name="Footer Placeholder 3">
            <a:extLst>
              <a:ext uri="{FF2B5EF4-FFF2-40B4-BE49-F238E27FC236}">
                <a16:creationId xmlns:a16="http://schemas.microsoft.com/office/drawing/2014/main" id="{6E7F4D14-5620-EC41-A86C-6CC3CFD691B4}"/>
              </a:ext>
            </a:extLst>
          </p:cNvPr>
          <p:cNvSpPr>
            <a:spLocks noGrp="1"/>
          </p:cNvSpPr>
          <p:nvPr>
            <p:ph type="ftr" sz="quarter" idx="11"/>
          </p:nvPr>
        </p:nvSpPr>
        <p:spPr>
          <a:xfrm>
            <a:off x="953999" y="253056"/>
            <a:ext cx="10455567" cy="767670"/>
          </a:xfrm>
        </p:spPr>
        <p:txBody>
          <a:bodyPr/>
          <a:lstStyle/>
          <a:p>
            <a:r>
              <a:rPr lang="en-GB" sz="1400" dirty="0"/>
              <a:t>7COM1079-2024  Student Group No: </a:t>
            </a:r>
            <a:r>
              <a:rPr lang="en-GB" sz="1400" dirty="0" smtClean="0"/>
              <a:t> A099	</a:t>
            </a:r>
            <a:r>
              <a:rPr lang="en-US" sz="1400" dirty="0" smtClean="0"/>
              <a:t>Name </a:t>
            </a:r>
            <a:r>
              <a:rPr lang="en-US" sz="1400" dirty="0"/>
              <a:t>of Student Attendees: </a:t>
            </a:r>
            <a:r>
              <a:rPr lang="en-US" sz="1400" dirty="0" err="1"/>
              <a:t>Mukaila</a:t>
            </a:r>
            <a:r>
              <a:rPr lang="en-US" sz="1400" dirty="0"/>
              <a:t> Salami, </a:t>
            </a:r>
            <a:r>
              <a:rPr lang="en-US" sz="1400" dirty="0" err="1"/>
              <a:t>Rane</a:t>
            </a:r>
            <a:r>
              <a:rPr lang="en-US" sz="1400" dirty="0"/>
              <a:t> </a:t>
            </a:r>
            <a:r>
              <a:rPr lang="en-US" sz="1400" dirty="0" err="1"/>
              <a:t>Ebinne</a:t>
            </a:r>
            <a:r>
              <a:rPr lang="en-US" sz="1400" dirty="0"/>
              <a:t>, Adeyemo Ayobami, </a:t>
            </a:r>
            <a:r>
              <a:rPr lang="en-US" sz="1400" dirty="0" smtClean="0"/>
              <a:t>					Emmanuel </a:t>
            </a:r>
            <a:r>
              <a:rPr lang="en-US" sz="1400" dirty="0" err="1"/>
              <a:t>Archibong</a:t>
            </a:r>
            <a:r>
              <a:rPr lang="en-US" sz="1400" dirty="0"/>
              <a:t> </a:t>
            </a:r>
            <a:endParaRPr lang="en-GB" dirty="0"/>
          </a:p>
        </p:txBody>
      </p:sp>
    </p:spTree>
    <p:extLst>
      <p:ext uri="{BB962C8B-B14F-4D97-AF65-F5344CB8AC3E}">
        <p14:creationId xmlns:p14="http://schemas.microsoft.com/office/powerpoint/2010/main" val="41485325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D9D8228-727F-1E46-B5AD-91D158B8255E}"/>
              </a:ext>
            </a:extLst>
          </p:cNvPr>
          <p:cNvSpPr>
            <a:spLocks noGrp="1"/>
          </p:cNvSpPr>
          <p:nvPr>
            <p:ph type="subTitle" idx="1"/>
          </p:nvPr>
        </p:nvSpPr>
        <p:spPr>
          <a:xfrm>
            <a:off x="952588" y="991174"/>
            <a:ext cx="10110240" cy="588024"/>
          </a:xfrm>
        </p:spPr>
        <p:txBody>
          <a:bodyPr vert="horz" lIns="0" tIns="0" rIns="0" bIns="0" rtlCol="0" anchor="t">
            <a:noAutofit/>
          </a:bodyPr>
          <a:lstStyle/>
          <a:p>
            <a:pPr>
              <a:lnSpc>
                <a:spcPct val="100000"/>
              </a:lnSpc>
            </a:pPr>
            <a:r>
              <a:rPr lang="en-US" dirty="0">
                <a:cs typeface="Calibri" panose="020F0502020204030204" pitchFamily="34" charset="0"/>
              </a:rPr>
              <a:t>Dataset </a:t>
            </a:r>
            <a:r>
              <a:rPr lang="en-US" dirty="0">
                <a:solidFill>
                  <a:srgbClr val="203232"/>
                </a:solidFill>
                <a:cs typeface="Calibri" panose="020F0502020204030204" pitchFamily="34" charset="0"/>
              </a:rPr>
              <a:t>ID</a:t>
            </a:r>
            <a:r>
              <a:rPr lang="en-US" dirty="0">
                <a:solidFill>
                  <a:srgbClr val="FF0000"/>
                </a:solidFill>
                <a:cs typeface="Calibri" panose="020F0502020204030204" pitchFamily="34" charset="0"/>
              </a:rPr>
              <a:t> </a:t>
            </a:r>
            <a:r>
              <a:rPr lang="en-US" dirty="0">
                <a:solidFill>
                  <a:schemeClr val="tx1"/>
                </a:solidFill>
                <a:cs typeface="Calibri" panose="020F0502020204030204" pitchFamily="34" charset="0"/>
              </a:rPr>
              <a:t>-</a:t>
            </a:r>
            <a:r>
              <a:rPr lang="en-US" dirty="0">
                <a:solidFill>
                  <a:srgbClr val="FF0000"/>
                </a:solidFill>
                <a:cs typeface="Calibri" panose="020F0502020204030204" pitchFamily="34" charset="0"/>
              </a:rPr>
              <a:t> </a:t>
            </a:r>
            <a:r>
              <a:rPr lang="en-US" dirty="0">
                <a:solidFill>
                  <a:schemeClr val="tx1"/>
                </a:solidFill>
                <a:cs typeface="Calibri" panose="020F0502020204030204" pitchFamily="34" charset="0"/>
              </a:rPr>
              <a:t>DS003 : Housing.csv</a:t>
            </a:r>
          </a:p>
        </p:txBody>
      </p:sp>
      <p:sp>
        <p:nvSpPr>
          <p:cNvPr id="3" name="Footer Placeholder 2">
            <a:extLst>
              <a:ext uri="{FF2B5EF4-FFF2-40B4-BE49-F238E27FC236}">
                <a16:creationId xmlns:a16="http://schemas.microsoft.com/office/drawing/2014/main" id="{00EBC183-8AA5-EC44-9987-D65F5C1892A1}"/>
              </a:ext>
            </a:extLst>
          </p:cNvPr>
          <p:cNvSpPr>
            <a:spLocks noGrp="1"/>
          </p:cNvSpPr>
          <p:nvPr>
            <p:ph type="ftr" sz="quarter" idx="11"/>
          </p:nvPr>
        </p:nvSpPr>
        <p:spPr>
          <a:xfrm>
            <a:off x="952588" y="324733"/>
            <a:ext cx="9129687" cy="230832"/>
          </a:xfrm>
        </p:spPr>
        <p:txBody>
          <a:bodyPr/>
          <a:lstStyle/>
          <a:p>
            <a:r>
              <a:rPr lang="en-GB" dirty="0"/>
              <a:t>7COM1079-2024  Student Group No: A99</a:t>
            </a:r>
          </a:p>
        </p:txBody>
      </p:sp>
      <p:sp>
        <p:nvSpPr>
          <p:cNvPr id="4" name="Slide Number Placeholder 3">
            <a:extLst>
              <a:ext uri="{FF2B5EF4-FFF2-40B4-BE49-F238E27FC236}">
                <a16:creationId xmlns:a16="http://schemas.microsoft.com/office/drawing/2014/main" id="{CC9D9611-42EE-7840-81EE-DD6B1A99CD7B}"/>
              </a:ext>
            </a:extLst>
          </p:cNvPr>
          <p:cNvSpPr>
            <a:spLocks noGrp="1"/>
          </p:cNvSpPr>
          <p:nvPr>
            <p:ph type="sldNum" sz="quarter" idx="12"/>
          </p:nvPr>
        </p:nvSpPr>
        <p:spPr>
          <a:xfrm>
            <a:off x="10954512" y="555565"/>
            <a:ext cx="622800" cy="230832"/>
          </a:xfrm>
        </p:spPr>
        <p:txBody>
          <a:bodyPr/>
          <a:lstStyle/>
          <a:p>
            <a:r>
              <a:rPr lang="en-US" dirty="0"/>
              <a:t>1</a:t>
            </a:r>
            <a:endParaRPr lang="en-GB" dirty="0"/>
          </a:p>
        </p:txBody>
      </p:sp>
      <p:sp>
        <p:nvSpPr>
          <p:cNvPr id="5" name="Title 4">
            <a:extLst>
              <a:ext uri="{FF2B5EF4-FFF2-40B4-BE49-F238E27FC236}">
                <a16:creationId xmlns:a16="http://schemas.microsoft.com/office/drawing/2014/main" id="{B3FA3829-F12C-214D-8FBA-7E1A740F65CA}"/>
              </a:ext>
            </a:extLst>
          </p:cNvPr>
          <p:cNvSpPr>
            <a:spLocks noGrp="1"/>
          </p:cNvSpPr>
          <p:nvPr>
            <p:ph type="ctrTitle"/>
          </p:nvPr>
        </p:nvSpPr>
        <p:spPr>
          <a:xfrm>
            <a:off x="952588" y="1579199"/>
            <a:ext cx="11083277" cy="3806618"/>
          </a:xfrm>
        </p:spPr>
        <p:txBody>
          <a:bodyPr>
            <a:noAutofit/>
          </a:bodyPr>
          <a:lstStyle/>
          <a:p>
            <a:pPr>
              <a:lnSpc>
                <a:spcPct val="100000"/>
              </a:lnSpc>
            </a:pPr>
            <a:r>
              <a:rPr lang="en-US" sz="2800" b="0" spc="0" dirty="0">
                <a:latin typeface="+mn-lt"/>
              </a:rPr>
              <a:t>This dataset is interesting to us because it </a:t>
            </a:r>
            <a:r>
              <a:rPr lang="en-GB" sz="2800" b="0" spc="0" dirty="0">
                <a:latin typeface="+mn-lt"/>
              </a:rPr>
              <a:t>predicts the housing price based on certain factors like house area per square foot, number of bedrooms, furnished status, nearness to </a:t>
            </a:r>
            <a:r>
              <a:rPr lang="en-GB" sz="2800" b="0" spc="0" dirty="0" smtClean="0">
                <a:latin typeface="+mn-lt"/>
              </a:rPr>
              <a:t>main road </a:t>
            </a:r>
            <a:r>
              <a:rPr lang="en-GB" sz="2800" b="0" spc="0" dirty="0">
                <a:latin typeface="+mn-lt"/>
              </a:rPr>
              <a:t>and so on.</a:t>
            </a:r>
            <a:r>
              <a:rPr lang="en-US" sz="2800" b="0" spc="0" dirty="0">
                <a:latin typeface="+mn-lt"/>
              </a:rPr>
              <a:t/>
            </a:r>
            <a:br>
              <a:rPr lang="en-US" sz="2800" b="0" spc="0" dirty="0">
                <a:latin typeface="+mn-lt"/>
              </a:rPr>
            </a:br>
            <a:r>
              <a:rPr lang="en-US" sz="2800" b="0" spc="0" dirty="0">
                <a:solidFill>
                  <a:srgbClr val="FF0000"/>
                </a:solidFill>
                <a:latin typeface="+mn-lt"/>
              </a:rPr>
              <a:t/>
            </a:r>
            <a:br>
              <a:rPr lang="en-US" sz="2800" b="0" spc="0" dirty="0">
                <a:solidFill>
                  <a:srgbClr val="FF0000"/>
                </a:solidFill>
                <a:latin typeface="+mn-lt"/>
              </a:rPr>
            </a:br>
            <a:r>
              <a:rPr lang="en-US" sz="2800" b="0" spc="0" dirty="0">
                <a:latin typeface="+mn-lt"/>
              </a:rPr>
              <a:t>Our  Independent variable </a:t>
            </a:r>
            <a:r>
              <a:rPr lang="en-US" sz="2800" b="0" spc="0" dirty="0" smtClean="0">
                <a:latin typeface="+mn-lt"/>
              </a:rPr>
              <a:t>is: </a:t>
            </a:r>
            <a:r>
              <a:rPr lang="en-US" sz="2800" b="0" spc="0" dirty="0">
                <a:solidFill>
                  <a:srgbClr val="FF0000"/>
                </a:solidFill>
                <a:latin typeface="+mn-lt"/>
              </a:rPr>
              <a:t>house</a:t>
            </a:r>
            <a:r>
              <a:rPr lang="en-US" sz="2800" b="0" spc="0" dirty="0">
                <a:latin typeface="+mn-lt"/>
              </a:rPr>
              <a:t> </a:t>
            </a:r>
            <a:r>
              <a:rPr lang="en-GB" sz="2800" b="0" spc="0" dirty="0" smtClean="0">
                <a:solidFill>
                  <a:srgbClr val="FF0000"/>
                </a:solidFill>
                <a:latin typeface="+mn-lt"/>
              </a:rPr>
              <a:t>area</a:t>
            </a:r>
            <a:br>
              <a:rPr lang="en-GB" sz="2800" b="0" spc="0" dirty="0" smtClean="0">
                <a:solidFill>
                  <a:srgbClr val="FF0000"/>
                </a:solidFill>
                <a:latin typeface="+mn-lt"/>
              </a:rPr>
            </a:br>
            <a:r>
              <a:rPr lang="en-GB" sz="2800" b="0" spc="0" dirty="0">
                <a:solidFill>
                  <a:srgbClr val="FF0000"/>
                </a:solidFill>
                <a:latin typeface="+mn-lt"/>
              </a:rPr>
              <a:t>	</a:t>
            </a:r>
            <a:r>
              <a:rPr lang="en-GB" sz="2800" b="0" spc="0" dirty="0" smtClean="0">
                <a:latin typeface="+mn-lt"/>
              </a:rPr>
              <a:t>This independent variable datatype is: </a:t>
            </a:r>
            <a:r>
              <a:rPr lang="en-GB" sz="2800" b="0" spc="0" dirty="0" smtClean="0">
                <a:solidFill>
                  <a:srgbClr val="FF0000"/>
                </a:solidFill>
                <a:latin typeface="+mn-lt"/>
              </a:rPr>
              <a:t>Interval data </a:t>
            </a:r>
            <a:r>
              <a:rPr lang="en-US" sz="2800" b="0" spc="0" dirty="0">
                <a:latin typeface="+mn-lt"/>
              </a:rPr>
              <a:t/>
            </a:r>
            <a:br>
              <a:rPr lang="en-US" sz="2800" b="0" spc="0" dirty="0">
                <a:latin typeface="+mn-lt"/>
              </a:rPr>
            </a:br>
            <a:r>
              <a:rPr lang="en-US" sz="2800" b="0" spc="0" dirty="0">
                <a:latin typeface="+mn-lt"/>
              </a:rPr>
              <a:t>Our Dependent variable is: </a:t>
            </a:r>
            <a:r>
              <a:rPr lang="en-US" sz="2800" b="0" spc="0" dirty="0">
                <a:solidFill>
                  <a:srgbClr val="FF0000"/>
                </a:solidFill>
                <a:latin typeface="+mn-lt"/>
              </a:rPr>
              <a:t>price </a:t>
            </a:r>
            <a:r>
              <a:rPr lang="en-US" sz="2800" b="0" spc="0" dirty="0" smtClean="0">
                <a:solidFill>
                  <a:srgbClr val="FF0000"/>
                </a:solidFill>
                <a:latin typeface="+mn-lt"/>
              </a:rPr>
              <a:t/>
            </a:r>
            <a:br>
              <a:rPr lang="en-US" sz="2800" b="0" spc="0" dirty="0" smtClean="0">
                <a:solidFill>
                  <a:srgbClr val="FF0000"/>
                </a:solidFill>
                <a:latin typeface="+mn-lt"/>
              </a:rPr>
            </a:br>
            <a:r>
              <a:rPr lang="en-US" sz="2800" b="0" spc="0" dirty="0" smtClean="0">
                <a:solidFill>
                  <a:srgbClr val="FF0000"/>
                </a:solidFill>
                <a:latin typeface="+mn-lt"/>
              </a:rPr>
              <a:t>	</a:t>
            </a:r>
            <a:r>
              <a:rPr lang="en-GB" sz="2800" b="0" spc="0" dirty="0" smtClean="0"/>
              <a:t>This </a:t>
            </a:r>
            <a:r>
              <a:rPr lang="en-GB" sz="2800" b="0" spc="0" dirty="0"/>
              <a:t>independent variable datatype is</a:t>
            </a:r>
            <a:r>
              <a:rPr lang="en-GB" sz="2800" b="0" spc="0" dirty="0" smtClean="0"/>
              <a:t>: </a:t>
            </a:r>
            <a:r>
              <a:rPr lang="en-GB" sz="2800" b="0" spc="0" dirty="0" smtClean="0">
                <a:solidFill>
                  <a:srgbClr val="FF0000"/>
                </a:solidFill>
              </a:rPr>
              <a:t>Interval data</a:t>
            </a:r>
            <a:endParaRPr lang="en-US" sz="2800" b="0" spc="0" dirty="0">
              <a:solidFill>
                <a:srgbClr val="FF0000"/>
              </a:solidFill>
              <a:latin typeface="+mn-lt"/>
            </a:endParaRPr>
          </a:p>
        </p:txBody>
      </p:sp>
    </p:spTree>
    <p:extLst>
      <p:ext uri="{BB962C8B-B14F-4D97-AF65-F5344CB8AC3E}">
        <p14:creationId xmlns:p14="http://schemas.microsoft.com/office/powerpoint/2010/main" val="17180049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245253"/>
            <a:ext cx="9753625" cy="648662"/>
          </a:xfrm>
        </p:spPr>
        <p:txBody>
          <a:bodyPr/>
          <a:lstStyle/>
          <a:p>
            <a:pPr>
              <a:lnSpc>
                <a:spcPct val="100000"/>
              </a:lnSpc>
              <a:spcAft>
                <a:spcPts val="0"/>
              </a:spcAft>
            </a:pPr>
            <a:r>
              <a:rPr lang="en-GB" dirty="0"/>
              <a:t>Our Research Questions </a:t>
            </a:r>
            <a:endParaRPr lang="en-GB" sz="1800" dirty="0">
              <a:solidFill>
                <a:srgbClr val="FF0000"/>
              </a:solidFil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a:xfrm>
            <a:off x="965289" y="280660"/>
            <a:ext cx="7176911" cy="230832"/>
          </a:xfrm>
        </p:spPr>
        <p:txBody>
          <a:bodyPr/>
          <a:lstStyle/>
          <a:p>
            <a:r>
              <a:rPr lang="en-GB" dirty="0"/>
              <a:t>PRE 7COM1079-2024  Student Group No:  A99</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dirty="0"/>
              <a:t>2</a:t>
            </a:r>
            <a:endParaRPr lang="en-GB" dirty="0"/>
          </a:p>
        </p:txBody>
      </p:sp>
      <p:sp>
        <p:nvSpPr>
          <p:cNvPr id="5" name="Title 4">
            <a:extLst>
              <a:ext uri="{FF2B5EF4-FFF2-40B4-BE49-F238E27FC236}">
                <a16:creationId xmlns:a16="http://schemas.microsoft.com/office/drawing/2014/main" id="{3440DA25-F620-152B-DE9E-776F7B74DFF0}"/>
              </a:ext>
            </a:extLst>
          </p:cNvPr>
          <p:cNvSpPr>
            <a:spLocks noGrp="1"/>
          </p:cNvSpPr>
          <p:nvPr>
            <p:ph type="ctrTitle"/>
          </p:nvPr>
        </p:nvSpPr>
        <p:spPr>
          <a:xfrm>
            <a:off x="965289" y="1893915"/>
            <a:ext cx="10640594" cy="2328462"/>
          </a:xfrm>
        </p:spPr>
        <p:txBody>
          <a:bodyPr>
            <a:noAutofit/>
          </a:bodyPr>
          <a:lstStyle/>
          <a:p>
            <a:pPr>
              <a:lnSpc>
                <a:spcPct val="100000"/>
              </a:lnSpc>
            </a:pPr>
            <a:r>
              <a:rPr lang="en-GB" sz="2800" b="0" spc="0" dirty="0" smtClean="0">
                <a:latin typeface="+mn-lt"/>
              </a:rPr>
              <a:t>Is there a correlation between the </a:t>
            </a:r>
            <a:r>
              <a:rPr lang="en-GB" sz="2800" b="0" spc="0" dirty="0" smtClean="0">
                <a:solidFill>
                  <a:srgbClr val="FF0000"/>
                </a:solidFill>
                <a:latin typeface="+mn-lt"/>
              </a:rPr>
              <a:t>price (in dollars) </a:t>
            </a:r>
            <a:r>
              <a:rPr lang="en-GB" sz="2800" b="0" spc="0" dirty="0" smtClean="0">
                <a:latin typeface="+mn-lt"/>
              </a:rPr>
              <a:t>and </a:t>
            </a:r>
            <a:r>
              <a:rPr lang="en-GB" sz="2800" b="0" spc="0" dirty="0" smtClean="0">
                <a:solidFill>
                  <a:srgbClr val="FF0000"/>
                </a:solidFill>
                <a:latin typeface="+mn-lt"/>
              </a:rPr>
              <a:t>area/dimension (in square feet) </a:t>
            </a:r>
            <a:r>
              <a:rPr lang="en-GB" sz="2800" b="0" spc="0" dirty="0" smtClean="0">
                <a:latin typeface="+mn-lt"/>
              </a:rPr>
              <a:t>of a house.</a:t>
            </a:r>
            <a:endParaRPr lang="en-GB" sz="2400" dirty="0">
              <a:solidFill>
                <a:srgbClr val="FF0000"/>
              </a:solidFill>
              <a:latin typeface="+mn-lt"/>
            </a:endParaRPr>
          </a:p>
        </p:txBody>
      </p:sp>
    </p:spTree>
    <p:extLst>
      <p:ext uri="{BB962C8B-B14F-4D97-AF65-F5344CB8AC3E}">
        <p14:creationId xmlns:p14="http://schemas.microsoft.com/office/powerpoint/2010/main" val="324946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B64221B-D6D4-E382-A91A-99FF908D5475}"/>
              </a:ext>
            </a:extLst>
          </p:cNvPr>
          <p:cNvSpPr>
            <a:spLocks noGrp="1"/>
          </p:cNvSpPr>
          <p:nvPr>
            <p:ph type="subTitle" idx="1"/>
          </p:nvPr>
        </p:nvSpPr>
        <p:spPr>
          <a:xfrm>
            <a:off x="862962" y="220580"/>
            <a:ext cx="10406581" cy="961719"/>
          </a:xfrm>
        </p:spPr>
        <p:txBody>
          <a:bodyPr vert="horz" lIns="0" tIns="0" rIns="0" bIns="0" rtlCol="0" anchor="t">
            <a:noAutofit/>
          </a:bodyPr>
          <a:lstStyle/>
          <a:p>
            <a:r>
              <a:rPr lang="en-GB" sz="1500" b="0" dirty="0">
                <a:solidFill>
                  <a:schemeClr val="bg1">
                    <a:lumMod val="50000"/>
                  </a:schemeClr>
                </a:solidFill>
                <a:cs typeface="Calibri" panose="020F0502020204030204" pitchFamily="34" charset="0"/>
              </a:rPr>
              <a:t>PRE 7COM1079-2024  Student Group No:  </a:t>
            </a:r>
            <a:r>
              <a:rPr lang="en-GB" sz="1500" b="0" dirty="0" smtClean="0">
                <a:solidFill>
                  <a:schemeClr val="bg1">
                    <a:lumMod val="50000"/>
                  </a:schemeClr>
                </a:solidFill>
                <a:cs typeface="Calibri" panose="020F0502020204030204" pitchFamily="34" charset="0"/>
              </a:rPr>
              <a:t>A99</a:t>
            </a:r>
          </a:p>
          <a:p>
            <a:endParaRPr lang="en-GB" sz="1500" b="0" dirty="0">
              <a:solidFill>
                <a:schemeClr val="bg1">
                  <a:lumMod val="50000"/>
                </a:schemeClr>
              </a:solidFill>
              <a:cs typeface="Calibri" panose="020F0502020204030204" pitchFamily="34" charset="0"/>
            </a:endParaRPr>
          </a:p>
          <a:p>
            <a:r>
              <a:rPr lang="en-GB" b="1" dirty="0">
                <a:cs typeface="Calibri" panose="020F0502020204030204" pitchFamily="34" charset="0"/>
              </a:rPr>
              <a:t>Hypothesis Statements</a:t>
            </a:r>
          </a:p>
          <a:p>
            <a:pPr>
              <a:lnSpc>
                <a:spcPct val="100000"/>
              </a:lnSpc>
            </a:pPr>
            <a:endParaRPr lang="en-GB" sz="2400" b="0" dirty="0">
              <a:cs typeface="Arial"/>
            </a:endParaRPr>
          </a:p>
        </p:txBody>
      </p:sp>
      <p:sp>
        <p:nvSpPr>
          <p:cNvPr id="4" name="Slide Number Placeholder 3">
            <a:extLst>
              <a:ext uri="{FF2B5EF4-FFF2-40B4-BE49-F238E27FC236}">
                <a16:creationId xmlns:a16="http://schemas.microsoft.com/office/drawing/2014/main" id="{FF7EDF94-2B89-A21D-BBC0-E455C2D9893B}"/>
              </a:ext>
            </a:extLst>
          </p:cNvPr>
          <p:cNvSpPr>
            <a:spLocks noGrp="1"/>
          </p:cNvSpPr>
          <p:nvPr>
            <p:ph type="sldNum" sz="quarter" idx="12"/>
          </p:nvPr>
        </p:nvSpPr>
        <p:spPr>
          <a:xfrm>
            <a:off x="11269543" y="284375"/>
            <a:ext cx="558281" cy="221244"/>
          </a:xfrm>
        </p:spPr>
        <p:txBody>
          <a:bodyPr/>
          <a:lstStyle/>
          <a:p>
            <a:r>
              <a:rPr lang="en-US" dirty="0"/>
              <a:t>3</a:t>
            </a:r>
            <a:endParaRPr lang="en-GB" dirty="0"/>
          </a:p>
        </p:txBody>
      </p:sp>
      <p:sp>
        <p:nvSpPr>
          <p:cNvPr id="9" name="Title 8">
            <a:extLst>
              <a:ext uri="{FF2B5EF4-FFF2-40B4-BE49-F238E27FC236}">
                <a16:creationId xmlns:a16="http://schemas.microsoft.com/office/drawing/2014/main" id="{D1A8E56B-DFF3-4B99-A410-52B14F2E39E7}"/>
              </a:ext>
            </a:extLst>
          </p:cNvPr>
          <p:cNvSpPr>
            <a:spLocks noGrp="1"/>
          </p:cNvSpPr>
          <p:nvPr>
            <p:ph type="ctrTitle"/>
          </p:nvPr>
        </p:nvSpPr>
        <p:spPr>
          <a:xfrm>
            <a:off x="862962" y="1751124"/>
            <a:ext cx="11329038" cy="3033528"/>
          </a:xfrm>
          <a:ln>
            <a:noFill/>
          </a:ln>
        </p:spPr>
        <p:txBody>
          <a:bodyPr>
            <a:normAutofit/>
          </a:bodyPr>
          <a:lstStyle/>
          <a:p>
            <a:pPr>
              <a:lnSpc>
                <a:spcPct val="115000"/>
              </a:lnSpc>
              <a:spcAft>
                <a:spcPts val="800"/>
              </a:spcAft>
            </a:pPr>
            <a:r>
              <a:rPr lang="en-GB" sz="2200" b="0" spc="0" dirty="0" smtClean="0">
                <a:latin typeface="+mn-lt"/>
              </a:rPr>
              <a:t>Null </a:t>
            </a:r>
            <a:r>
              <a:rPr lang="en-GB" sz="2200" b="0" spc="0" dirty="0">
                <a:latin typeface="+mn-lt"/>
              </a:rPr>
              <a:t>Hypothesis (Ho​): There is no correlation </a:t>
            </a:r>
            <a:r>
              <a:rPr lang="en-GB" sz="2200" b="0" spc="0" dirty="0" smtClean="0">
                <a:latin typeface="+mn-lt"/>
              </a:rPr>
              <a:t>between the </a:t>
            </a:r>
            <a:r>
              <a:rPr lang="en-GB" sz="2200" b="0" spc="0" dirty="0" smtClean="0"/>
              <a:t>price and</a:t>
            </a:r>
            <a:r>
              <a:rPr lang="en-GB" sz="2200" b="0" spc="0" dirty="0" smtClean="0">
                <a:latin typeface="+mn-lt"/>
              </a:rPr>
              <a:t> area of the house</a:t>
            </a:r>
            <a:br>
              <a:rPr lang="en-GB" sz="2200" b="0" spc="0" dirty="0" smtClean="0">
                <a:latin typeface="+mn-lt"/>
              </a:rPr>
            </a:br>
            <a:r>
              <a:rPr lang="en-GB" sz="2200" b="0" spc="0" dirty="0" smtClean="0">
                <a:latin typeface="+mn-lt"/>
              </a:rPr>
              <a:t/>
            </a:r>
            <a:br>
              <a:rPr lang="en-GB" sz="2200" b="0" spc="0" dirty="0" smtClean="0">
                <a:latin typeface="+mn-lt"/>
              </a:rPr>
            </a:br>
            <a:r>
              <a:rPr lang="en-GB" sz="2200" b="0" spc="0" dirty="0" smtClean="0">
                <a:latin typeface="+mn-lt"/>
              </a:rPr>
              <a:t>Alternative </a:t>
            </a:r>
            <a:r>
              <a:rPr lang="en-GB" sz="2200" b="0" spc="0" dirty="0">
                <a:latin typeface="+mn-lt"/>
              </a:rPr>
              <a:t>Hypothesis (H</a:t>
            </a:r>
            <a:r>
              <a:rPr lang="en-GB" sz="1800" b="0" spc="0" dirty="0">
                <a:latin typeface="+mn-lt"/>
              </a:rPr>
              <a:t>1</a:t>
            </a:r>
            <a:r>
              <a:rPr lang="en-GB" sz="2200" b="0" spc="0" dirty="0">
                <a:latin typeface="+mn-lt"/>
              </a:rPr>
              <a:t>​): There is a correlation between </a:t>
            </a:r>
            <a:r>
              <a:rPr lang="en-GB" sz="2200" b="0" spc="0" dirty="0"/>
              <a:t>the </a:t>
            </a:r>
            <a:r>
              <a:rPr lang="en-GB" sz="2200" b="0" spc="0" dirty="0"/>
              <a:t>price and</a:t>
            </a:r>
            <a:r>
              <a:rPr lang="en-GB" sz="2200" b="0" spc="0" dirty="0"/>
              <a:t> area of the house</a:t>
            </a:r>
            <a:br>
              <a:rPr lang="en-GB" sz="2200" b="0" spc="0" dirty="0"/>
            </a:br>
            <a:endParaRPr lang="en-GB" sz="2000" b="0" spc="0" dirty="0">
              <a:solidFill>
                <a:schemeClr val="accent2">
                  <a:lumMod val="75000"/>
                </a:schemeClr>
              </a:solidFill>
              <a:latin typeface="+mn-lt"/>
            </a:endParaRPr>
          </a:p>
        </p:txBody>
      </p:sp>
    </p:spTree>
    <p:extLst>
      <p:ext uri="{BB962C8B-B14F-4D97-AF65-F5344CB8AC3E}">
        <p14:creationId xmlns:p14="http://schemas.microsoft.com/office/powerpoint/2010/main" val="18330418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E32129C-44C2-95DE-7FB4-8025AAB3EA1F}"/>
              </a:ext>
            </a:extLst>
          </p:cNvPr>
          <p:cNvSpPr>
            <a:spLocks noGrp="1"/>
          </p:cNvSpPr>
          <p:nvPr>
            <p:ph type="ftr" sz="quarter" idx="11"/>
          </p:nvPr>
        </p:nvSpPr>
        <p:spPr>
          <a:xfrm>
            <a:off x="942198" y="310719"/>
            <a:ext cx="7176911" cy="230832"/>
          </a:xfrm>
        </p:spPr>
        <p:txBody>
          <a:bodyPr/>
          <a:lstStyle/>
          <a:p>
            <a:r>
              <a:rPr lang="en-GB" dirty="0">
                <a:solidFill>
                  <a:schemeClr val="bg1">
                    <a:lumMod val="50000"/>
                  </a:schemeClr>
                </a:solidFill>
                <a:cs typeface="Calibri" panose="020F0502020204030204" pitchFamily="34" charset="0"/>
              </a:rPr>
              <a:t>PRE 7COM1079-2024  Student Group No:  A99</a:t>
            </a:r>
          </a:p>
        </p:txBody>
      </p:sp>
      <p:sp>
        <p:nvSpPr>
          <p:cNvPr id="4" name="Slide Number Placeholder 3">
            <a:extLst>
              <a:ext uri="{FF2B5EF4-FFF2-40B4-BE49-F238E27FC236}">
                <a16:creationId xmlns:a16="http://schemas.microsoft.com/office/drawing/2014/main" id="{9143F542-9925-BCBE-2DA4-35A32A38D9AD}"/>
              </a:ext>
            </a:extLst>
          </p:cNvPr>
          <p:cNvSpPr>
            <a:spLocks noGrp="1"/>
          </p:cNvSpPr>
          <p:nvPr>
            <p:ph type="sldNum" sz="quarter" idx="12"/>
          </p:nvPr>
        </p:nvSpPr>
        <p:spPr>
          <a:xfrm>
            <a:off x="11268222" y="791022"/>
            <a:ext cx="267286" cy="264055"/>
          </a:xfrm>
        </p:spPr>
        <p:txBody>
          <a:bodyPr/>
          <a:lstStyle/>
          <a:p>
            <a:r>
              <a:rPr lang="en-GB" dirty="0"/>
              <a:t>4</a:t>
            </a:r>
          </a:p>
        </p:txBody>
      </p:sp>
      <p:sp>
        <p:nvSpPr>
          <p:cNvPr id="5" name="Title 4">
            <a:extLst>
              <a:ext uri="{FF2B5EF4-FFF2-40B4-BE49-F238E27FC236}">
                <a16:creationId xmlns:a16="http://schemas.microsoft.com/office/drawing/2014/main" id="{FEF2E89F-D251-B0A8-2377-FD314948D49C}"/>
              </a:ext>
            </a:extLst>
          </p:cNvPr>
          <p:cNvSpPr>
            <a:spLocks noGrp="1"/>
          </p:cNvSpPr>
          <p:nvPr>
            <p:ph type="ctrTitle"/>
          </p:nvPr>
        </p:nvSpPr>
        <p:spPr>
          <a:xfrm>
            <a:off x="942198" y="791022"/>
            <a:ext cx="9128901" cy="956604"/>
          </a:xfrm>
        </p:spPr>
        <p:txBody>
          <a:bodyPr>
            <a:normAutofit fontScale="90000"/>
          </a:bodyPr>
          <a:lstStyle/>
          <a:p>
            <a:r>
              <a:rPr lang="en-US" sz="5400" dirty="0"/>
              <a:t>Dataset Snippet – Housing Data</a:t>
            </a:r>
            <a:endParaRPr lang="en-GB" sz="5400" dirty="0"/>
          </a:p>
        </p:txBody>
      </p:sp>
      <p:pic>
        <p:nvPicPr>
          <p:cNvPr id="6" name="Picture 5"/>
          <p:cNvPicPr>
            <a:picLocks noChangeAspect="1"/>
          </p:cNvPicPr>
          <p:nvPr/>
        </p:nvPicPr>
        <p:blipFill>
          <a:blip r:embed="rId2"/>
          <a:stretch>
            <a:fillRect/>
          </a:stretch>
        </p:blipFill>
        <p:spPr>
          <a:xfrm>
            <a:off x="0" y="2112513"/>
            <a:ext cx="12192000" cy="2894804"/>
          </a:xfrm>
          <a:prstGeom prst="rect">
            <a:avLst/>
          </a:prstGeom>
        </p:spPr>
      </p:pic>
    </p:spTree>
    <p:extLst>
      <p:ext uri="{BB962C8B-B14F-4D97-AF65-F5344CB8AC3E}">
        <p14:creationId xmlns:p14="http://schemas.microsoft.com/office/powerpoint/2010/main" val="271734506"/>
      </p:ext>
    </p:extLst>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6DBA85F447B164191BB36C258697B67" ma:contentTypeVersion="14" ma:contentTypeDescription="Create a new document." ma:contentTypeScope="" ma:versionID="ea511d05ca7f895fe9556935b5c9af34">
  <xsd:schema xmlns:xsd="http://www.w3.org/2001/XMLSchema" xmlns:xs="http://www.w3.org/2001/XMLSchema" xmlns:p="http://schemas.microsoft.com/office/2006/metadata/properties" xmlns:ns2="4ad138b4-2b68-4b70-945d-07f8f18b1c9a" xmlns:ns3="3c474641-ec36-472f-b125-6b1b0910eaa4" targetNamespace="http://schemas.microsoft.com/office/2006/metadata/properties" ma:root="true" ma:fieldsID="662270106d7a7e100bcac2c5f8d29899" ns2:_="" ns3:_="">
    <xsd:import namespace="4ad138b4-2b68-4b70-945d-07f8f18b1c9a"/>
    <xsd:import namespace="3c474641-ec36-472f-b125-6b1b0910ea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nforma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d138b4-2b68-4b70-945d-07f8f18b1c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nformation" ma:index="12" nillable="true" ma:displayName="Information" ma:format="Dropdown" ma:internalName="Information">
      <xsd:simpleType>
        <xsd:restriction base="dms:Text">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474641-ec36-472f-b125-6b1b0910ea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1C521DD-2673-4EE6-BB9B-DC5C3320FFBB}">
  <ds:schemaRefs>
    <ds:schemaRef ds:uri="http://schemas.microsoft.com/sharepoint/v3/contenttype/forms"/>
  </ds:schemaRefs>
</ds:datastoreItem>
</file>

<file path=customXml/itemProps2.xml><?xml version="1.0" encoding="utf-8"?>
<ds:datastoreItem xmlns:ds="http://schemas.openxmlformats.org/officeDocument/2006/customXml" ds:itemID="{EDD1FC41-23C7-41B0-B5F9-BF4CD38AD2ED}">
  <ds:schemaRefs>
    <ds:schemaRef ds:uri="http://schemas.microsoft.com/office/infopath/2007/PartnerControls"/>
    <ds:schemaRef ds:uri="3c474641-ec36-472f-b125-6b1b0910eaa4"/>
    <ds:schemaRef ds:uri="http://purl.org/dc/terms/"/>
    <ds:schemaRef ds:uri="http://schemas.microsoft.com/office/2006/documentManagement/types"/>
    <ds:schemaRef ds:uri="http://www.w3.org/XML/1998/namespace"/>
    <ds:schemaRef ds:uri="http://purl.org/dc/elements/1.1/"/>
    <ds:schemaRef ds:uri="http://schemas.openxmlformats.org/package/2006/metadata/core-properties"/>
    <ds:schemaRef ds:uri="4ad138b4-2b68-4b70-945d-07f8f18b1c9a"/>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421B8C57-903D-4D0E-8336-7B512F760CD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ad138b4-2b68-4b70-945d-07f8f18b1c9a"/>
    <ds:schemaRef ds:uri="3c474641-ec36-472f-b125-6b1b0910eaa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3990</TotalTime>
  <Words>351</Words>
  <Application>Microsoft Office PowerPoint</Application>
  <PresentationFormat>Widescreen</PresentationFormat>
  <Paragraphs>26</Paragraphs>
  <Slides>5</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Herts Theme</vt:lpstr>
      <vt:lpstr>Research Question –  Is there a correlation between the price (in dollars) and area/dimension (in square feet) of a house Date:  04/11/24</vt:lpstr>
      <vt:lpstr>This dataset is interesting to us because it predicts the housing price based on certain factors like house area per square foot, number of bedrooms, furnished status, nearness to main road and so on.  Our  Independent variable is: house area  This independent variable datatype is: Interval data  Our Dependent variable is: price   This independent variable datatype is: Interval data</vt:lpstr>
      <vt:lpstr>Is there a correlation between the price (in dollars) and area/dimension (in square feet) of a house.</vt:lpstr>
      <vt:lpstr>Null Hypothesis (Ho​): There is no correlation between the price and area of the house  Alternative Hypothesis (H1​): There is a correlation between the price and area of the house </vt:lpstr>
      <vt:lpstr>Dataset Snippet – Housing Data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Joanne Harwood</dc:creator>
  <cp:lastModifiedBy>HP</cp:lastModifiedBy>
  <cp:revision>242</cp:revision>
  <dcterms:created xsi:type="dcterms:W3CDTF">2019-10-01T08:37:56Z</dcterms:created>
  <dcterms:modified xsi:type="dcterms:W3CDTF">2024-11-04T16:06:58Z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0x01010026DBA85F447B164191BB36C258697B67</vt:lpwstr>
  </property>
</Properties>
</file>