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29" r:id="rId6"/>
    <p:sldId id="336" r:id="rId7"/>
    <p:sldId id="338" r:id="rId8"/>
    <p:sldId id="33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44" autoAdjust="0"/>
    <p:restoredTop sz="94280" autoAdjust="0"/>
  </p:normalViewPr>
  <p:slideViewPr>
    <p:cSldViewPr snapToGrid="0" showGuides="1">
      <p:cViewPr varScale="1">
        <p:scale>
          <a:sx n="106" d="100"/>
          <a:sy n="106" d="100"/>
        </p:scale>
        <p:origin x="1278" y="114"/>
      </p:cViewPr>
      <p:guideLst>
        <p:guide orient="horz" pos="2160"/>
        <p:guide pos="3840"/>
        <p:guide orient="horz" pos="3249"/>
        <p:guide pos="7068"/>
        <p:guide orient="horz" pos="1380"/>
      </p:guideLst>
    </p:cSldViewPr>
  </p:slideViewPr>
  <p:outlineViewPr>
    <p:cViewPr>
      <p:scale>
        <a:sx n="33" d="100"/>
        <a:sy n="33" d="100"/>
      </p:scale>
      <p:origin x="0" y="-1122"/>
    </p:cViewPr>
  </p:outlineViewPr>
  <p:notesTextViewPr>
    <p:cViewPr>
      <p:scale>
        <a:sx n="1" d="1"/>
        <a:sy n="1" d="1"/>
      </p:scale>
      <p:origin x="0" y="0"/>
    </p:cViewPr>
  </p:notesTextViewPr>
  <p:notesViewPr>
    <p:cSldViewPr snapToGrid="0" showGuides="1">
      <p:cViewPr varScale="1">
        <p:scale>
          <a:sx n="81" d="100"/>
          <a:sy n="81" d="100"/>
        </p:scale>
        <p:origin x="232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nuel Archibong" userId="0b42f999389337f1" providerId="LiveId" clId="{71F33207-0354-450D-BBBC-155DAFE249C3}"/>
    <pc:docChg chg="modSld">
      <pc:chgData name="Emmanuel Archibong" userId="0b42f999389337f1" providerId="LiveId" clId="{71F33207-0354-450D-BBBC-155DAFE249C3}" dt="2024-10-27T21:16:48.868" v="1" actId="20577"/>
      <pc:docMkLst>
        <pc:docMk/>
      </pc:docMkLst>
      <pc:sldChg chg="modSp mod">
        <pc:chgData name="Emmanuel Archibong" userId="0b42f999389337f1" providerId="LiveId" clId="{71F33207-0354-450D-BBBC-155DAFE249C3}" dt="2024-10-27T21:16:48.868" v="1" actId="20577"/>
        <pc:sldMkLst>
          <pc:docMk/>
          <pc:sldMk cId="32494612" sldId="336"/>
        </pc:sldMkLst>
        <pc:spChg chg="mod">
          <ac:chgData name="Emmanuel Archibong" userId="0b42f999389337f1" providerId="LiveId" clId="{71F33207-0354-450D-BBBC-155DAFE249C3}" dt="2024-10-27T21:16:48.868" v="1" actId="20577"/>
          <ac:spMkLst>
            <pc:docMk/>
            <pc:sldMk cId="32494612" sldId="336"/>
            <ac:spMk id="5" creationId="{3440DA25-F620-152B-DE9E-776F7B74DFF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22/11/2024</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22/11/2024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dirty="0" err="1"/>
              <a:t>likert</a:t>
            </a:r>
            <a:r>
              <a:rPr lang="en-GB" dirty="0"/>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dirty="0"/>
          </a:p>
          <a:p>
            <a:r>
              <a:rPr lang="en-GB" dirty="0"/>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baseline="0" dirty="0"/>
              <a:t>Do specific characteristics of a house determine what the price should be</a:t>
            </a:r>
          </a:p>
          <a:p>
            <a:pPr marL="228600" indent="-228600">
              <a:buAutoNum type="arabicPeriod"/>
            </a:pPr>
            <a:r>
              <a:rPr lang="en-GB" baseline="0" dirty="0"/>
              <a:t>Which of the said characteristics is the most determining factor in the price of a house</a:t>
            </a:r>
            <a:endParaRPr lang="en-GB" dirty="0"/>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dirty="0"/>
              <a:t>Click to edit master title</a:t>
            </a:r>
            <a:endParaRPr lang="en-GB" dirty="0"/>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a:t>
            </a:r>
            <a:endParaRPr lang="en-GB" dirty="0"/>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dirty="0"/>
              <a:t>PRESENTATION TITLE (ADD VIA INSERT, HEADER &amp; FOOTER)</a:t>
            </a:r>
            <a:endParaRPr lang="en-GB" dirty="0">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dirty="0"/>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dirty="0"/>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dirty="0"/>
              <a:t>Click to edit master title</a:t>
            </a:r>
            <a:endParaRPr lang="en-GB" dirty="0"/>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dirty="0"/>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dirty="0"/>
              <a:t>Add Text</a:t>
            </a:r>
            <a:endParaRPr lang="en-GB" dirty="0"/>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dirty="0"/>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dirty="0"/>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dirty="0"/>
              <a:t>Click to add title.</a:t>
            </a:r>
            <a:endParaRPr lang="en-GB" dirty="0"/>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dirty="0"/>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dirty="0"/>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dirty="0"/>
              <a:t>Add Text</a:t>
            </a:r>
            <a:endParaRPr lang="en-GB" dirty="0"/>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dirty="0"/>
              <a:t>Click to add title.</a:t>
            </a:r>
            <a:endParaRPr lang="en-GB" dirty="0"/>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dirty="0"/>
              <a:t>Click to edit Master title style</a:t>
            </a:r>
            <a:endParaRPr lang="en-GB" dirty="0"/>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dirty="0"/>
              <a:t>Add Text</a:t>
            </a:r>
            <a:endParaRPr lang="en-GB" dirty="0"/>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dirty="0"/>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dirty="0"/>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dirty="0"/>
              <a:t>Add Text</a:t>
            </a:r>
            <a:endParaRPr lang="en-GB" dirty="0"/>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dirty="0"/>
              <a:t>Add Text</a:t>
            </a:r>
            <a:endParaRPr lang="en-GB" dirty="0"/>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dirty="0"/>
              <a:t>Add Text</a:t>
            </a:r>
            <a:endParaRPr lang="en-GB" dirty="0"/>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dirty="0"/>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dirty="0"/>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dirty="0"/>
              <a:t>Add </a:t>
            </a:r>
            <a:r>
              <a:rPr lang="en-US" dirty="0"/>
              <a:t>Text</a:t>
            </a:r>
            <a:endParaRPr lang="en-GB" dirty="0"/>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dirty="0"/>
              <a:t>Add </a:t>
            </a:r>
            <a:r>
              <a:rPr lang="en-US" dirty="0"/>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dirty="0"/>
              <a:t>Click to edit Master title style</a:t>
            </a:r>
            <a:endParaRPr lang="en-GB" dirty="0"/>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dirty="0"/>
              <a:t>PRESENTATION TITLE (ADD VIA INSERT, HEADER &amp; FOOTER)</a:t>
            </a:r>
            <a:endParaRPr lang="en-GB" dirty="0">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dirty="0"/>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GB" dirty="0"/>
              <a:t>Fourth level</a:t>
            </a:r>
          </a:p>
          <a:p>
            <a:pPr lvl="4"/>
            <a:r>
              <a:rPr lang="en-GB" b="1" dirty="0"/>
              <a:t>Fifth level</a:t>
            </a:r>
            <a:endParaRPr lang="en-GB" dirty="0"/>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dirty="0"/>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a:xfrm>
            <a:off x="841458" y="1649317"/>
            <a:ext cx="10031157" cy="3640136"/>
          </a:xfrm>
        </p:spPr>
        <p:txBody>
          <a:bodyPr>
            <a:normAutofit fontScale="90000"/>
          </a:bodyPr>
          <a:lstStyle/>
          <a:p>
            <a:pPr>
              <a:lnSpc>
                <a:spcPct val="150000"/>
              </a:lnSpc>
            </a:pPr>
            <a:r>
              <a:rPr lang="en-US" sz="6700" dirty="0"/>
              <a:t>Research Question – </a:t>
            </a:r>
            <a:br>
              <a:rPr lang="en-US" dirty="0"/>
            </a:br>
            <a:r>
              <a:rPr lang="en-GB" sz="3600" b="0" spc="0" dirty="0">
                <a:solidFill>
                  <a:schemeClr val="tx2"/>
                </a:solidFill>
              </a:rPr>
              <a:t>Is there a correlation between the price (in dollars) and area/dimension (in square feet) of a houses in the Minnesota, United States ?</a:t>
            </a:r>
            <a:br>
              <a:rPr lang="en-US" sz="4000" dirty="0"/>
            </a:br>
            <a:r>
              <a:rPr lang="en-US" sz="2200" spc="0" dirty="0"/>
              <a:t>Date</a:t>
            </a:r>
            <a:r>
              <a:rPr lang="en-US" sz="2200" dirty="0"/>
              <a:t>:  </a:t>
            </a:r>
            <a:r>
              <a:rPr lang="en-US" sz="2200" b="0" spc="0" dirty="0">
                <a:latin typeface="+mn-lt"/>
              </a:rPr>
              <a:t>04/11/24</a:t>
            </a:r>
            <a:endParaRPr lang="en-US" spc="0"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42710" y="1155021"/>
            <a:ext cx="10466856" cy="360000"/>
          </a:xfrm>
        </p:spPr>
        <p:txBody>
          <a:bodyPr/>
          <a:lstStyle/>
          <a:p>
            <a:r>
              <a:rPr lang="en-US" sz="2000" dirty="0"/>
              <a:t>Group Name:      A99                                                      Name of Student Presenting: Daniel Williams</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53999" y="253056"/>
            <a:ext cx="10455567" cy="767670"/>
          </a:xfrm>
        </p:spPr>
        <p:txBody>
          <a:bodyPr/>
          <a:lstStyle/>
          <a:p>
            <a:r>
              <a:rPr lang="en-GB" sz="1400" dirty="0"/>
              <a:t>7COM1079-2024  Student Group No:  A099	</a:t>
            </a:r>
            <a:r>
              <a:rPr lang="en-US" sz="1400" dirty="0"/>
              <a:t>Name of Student Attendees: </a:t>
            </a:r>
            <a:r>
              <a:rPr lang="en-US" sz="1400" dirty="0" err="1"/>
              <a:t>Mukaila</a:t>
            </a:r>
            <a:r>
              <a:rPr lang="en-US" sz="1400" dirty="0"/>
              <a:t> Salami, </a:t>
            </a:r>
            <a:r>
              <a:rPr lang="en-US" sz="1400" dirty="0" err="1"/>
              <a:t>Rane</a:t>
            </a:r>
            <a:r>
              <a:rPr lang="en-US" sz="1400" dirty="0"/>
              <a:t> </a:t>
            </a:r>
            <a:r>
              <a:rPr lang="en-US" sz="1400" dirty="0" err="1"/>
              <a:t>Ebinne</a:t>
            </a:r>
            <a:r>
              <a:rPr lang="en-US" sz="1400" dirty="0"/>
              <a:t>, Adeyemo Ayobami, 					Emmanuel </a:t>
            </a:r>
            <a:r>
              <a:rPr lang="en-US" sz="1400" dirty="0" err="1"/>
              <a:t>Archibong</a:t>
            </a:r>
            <a:r>
              <a:rPr lang="en-US" sz="1400" dirty="0"/>
              <a:t> </a:t>
            </a:r>
            <a:endParaRPr lang="en-GB" dirty="0"/>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52588" y="991174"/>
            <a:ext cx="10110240" cy="588024"/>
          </a:xfrm>
        </p:spPr>
        <p:txBody>
          <a:bodyPr vert="horz" lIns="0" tIns="0" rIns="0" bIns="0" rtlCol="0" anchor="t">
            <a:noAutofit/>
          </a:bodyPr>
          <a:lstStyle/>
          <a:p>
            <a:pPr>
              <a:lnSpc>
                <a:spcPct val="100000"/>
              </a:lnSpc>
            </a:pPr>
            <a:r>
              <a:rPr lang="en-US" dirty="0">
                <a:cs typeface="Calibri" panose="020F0502020204030204" pitchFamily="34" charset="0"/>
              </a:rPr>
              <a:t>Dataset </a:t>
            </a:r>
            <a:r>
              <a:rPr lang="en-US" dirty="0">
                <a:solidFill>
                  <a:srgbClr val="203232"/>
                </a:solidFill>
                <a:cs typeface="Calibri" panose="020F0502020204030204" pitchFamily="34" charset="0"/>
              </a:rPr>
              <a:t>ID</a:t>
            </a:r>
            <a:r>
              <a:rPr lang="en-US" dirty="0">
                <a:solidFill>
                  <a:srgbClr val="FF0000"/>
                </a:solidFill>
                <a:cs typeface="Calibri" panose="020F0502020204030204" pitchFamily="34" charset="0"/>
              </a:rPr>
              <a:t> </a:t>
            </a:r>
            <a:r>
              <a:rPr lang="en-US" dirty="0">
                <a:solidFill>
                  <a:schemeClr val="tx1"/>
                </a:solidFill>
                <a:cs typeface="Calibri" panose="020F0502020204030204" pitchFamily="34" charset="0"/>
              </a:rPr>
              <a:t>-</a:t>
            </a:r>
            <a:r>
              <a:rPr lang="en-US" dirty="0">
                <a:solidFill>
                  <a:srgbClr val="FF0000"/>
                </a:solidFill>
                <a:cs typeface="Calibri" panose="020F0502020204030204" pitchFamily="34" charset="0"/>
              </a:rPr>
              <a:t> </a:t>
            </a:r>
            <a:r>
              <a:rPr lang="en-US" dirty="0">
                <a:solidFill>
                  <a:schemeClr val="tx1"/>
                </a:solidFill>
                <a:cs typeface="Calibri" panose="020F0502020204030204" pitchFamily="34" charset="0"/>
              </a:rPr>
              <a:t>DS003 : Housing.csv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52588" y="324733"/>
            <a:ext cx="9129687" cy="230832"/>
          </a:xfrm>
        </p:spPr>
        <p:txBody>
          <a:bodyPr/>
          <a:lstStyle/>
          <a:p>
            <a:r>
              <a:rPr lang="en-GB" dirty="0"/>
              <a:t>7COM1079-2024  Student Group No: A99</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dirty="0"/>
              <a:t>1</a:t>
            </a:r>
            <a:endParaRPr lang="en-GB" dirty="0"/>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52588" y="1579199"/>
            <a:ext cx="11083277" cy="3806618"/>
          </a:xfrm>
        </p:spPr>
        <p:txBody>
          <a:bodyPr>
            <a:noAutofit/>
          </a:bodyPr>
          <a:lstStyle/>
          <a:p>
            <a:pPr>
              <a:lnSpc>
                <a:spcPct val="100000"/>
              </a:lnSpc>
            </a:pPr>
            <a:r>
              <a:rPr lang="en-US" sz="2800" b="0" spc="0" dirty="0">
                <a:latin typeface="+mn-lt"/>
              </a:rPr>
              <a:t>This dataset is interesting to us because it </a:t>
            </a:r>
            <a:r>
              <a:rPr lang="en-GB" sz="2800" b="0" spc="0" dirty="0">
                <a:latin typeface="+mn-lt"/>
              </a:rPr>
              <a:t>predicts the housing price based on certain factors like house area per square foot, number of bedrooms, furnished status, nearness to main road and so on.</a:t>
            </a:r>
            <a:br>
              <a:rPr lang="en-US" sz="2800" b="0" spc="0" dirty="0">
                <a:latin typeface="+mn-lt"/>
              </a:rPr>
            </a:br>
            <a:br>
              <a:rPr lang="en-US" sz="2800" b="0" spc="0" dirty="0">
                <a:solidFill>
                  <a:srgbClr val="FF0000"/>
                </a:solidFill>
                <a:latin typeface="+mn-lt"/>
              </a:rPr>
            </a:br>
            <a:r>
              <a:rPr lang="en-US" sz="2800" b="0" spc="0" dirty="0">
                <a:latin typeface="+mn-lt"/>
              </a:rPr>
              <a:t>Our  Independent variable is: </a:t>
            </a:r>
            <a:r>
              <a:rPr lang="en-US" sz="2800" b="0" spc="0" dirty="0">
                <a:solidFill>
                  <a:srgbClr val="FF0000"/>
                </a:solidFill>
                <a:latin typeface="+mn-lt"/>
              </a:rPr>
              <a:t>house</a:t>
            </a:r>
            <a:r>
              <a:rPr lang="en-US" sz="2800" b="0" spc="0" dirty="0">
                <a:latin typeface="+mn-lt"/>
              </a:rPr>
              <a:t> </a:t>
            </a:r>
            <a:r>
              <a:rPr lang="en-GB" sz="2800" b="0" spc="0" dirty="0">
                <a:solidFill>
                  <a:srgbClr val="FF0000"/>
                </a:solidFill>
                <a:latin typeface="+mn-lt"/>
              </a:rPr>
              <a:t>area</a:t>
            </a:r>
            <a:br>
              <a:rPr lang="en-GB" sz="2800" b="0" spc="0" dirty="0">
                <a:solidFill>
                  <a:srgbClr val="FF0000"/>
                </a:solidFill>
                <a:latin typeface="+mn-lt"/>
              </a:rPr>
            </a:br>
            <a:r>
              <a:rPr lang="en-GB" sz="2800" b="0" spc="0" dirty="0">
                <a:solidFill>
                  <a:srgbClr val="FF0000"/>
                </a:solidFill>
                <a:latin typeface="+mn-lt"/>
              </a:rPr>
              <a:t>	</a:t>
            </a:r>
            <a:r>
              <a:rPr lang="en-GB" sz="2800" b="0" spc="0" dirty="0">
                <a:latin typeface="+mn-lt"/>
              </a:rPr>
              <a:t>This independent variable datatype is: </a:t>
            </a:r>
            <a:r>
              <a:rPr lang="en-GB" sz="2800" b="0" spc="0" dirty="0">
                <a:solidFill>
                  <a:srgbClr val="FF0000"/>
                </a:solidFill>
                <a:latin typeface="+mn-lt"/>
              </a:rPr>
              <a:t>Interval data </a:t>
            </a:r>
            <a:br>
              <a:rPr lang="en-US" sz="2800" b="0" spc="0" dirty="0">
                <a:latin typeface="+mn-lt"/>
              </a:rPr>
            </a:br>
            <a:r>
              <a:rPr lang="en-US" sz="2800" b="0" spc="0" dirty="0">
                <a:latin typeface="+mn-lt"/>
              </a:rPr>
              <a:t>Our Dependent variable is: </a:t>
            </a:r>
            <a:r>
              <a:rPr lang="en-US" sz="2800" b="0" spc="0" dirty="0">
                <a:solidFill>
                  <a:srgbClr val="FF0000"/>
                </a:solidFill>
                <a:latin typeface="+mn-lt"/>
              </a:rPr>
              <a:t>price </a:t>
            </a:r>
            <a:br>
              <a:rPr lang="en-US" sz="2800" b="0" spc="0" dirty="0">
                <a:solidFill>
                  <a:srgbClr val="FF0000"/>
                </a:solidFill>
                <a:latin typeface="+mn-lt"/>
              </a:rPr>
            </a:br>
            <a:r>
              <a:rPr lang="en-US" sz="2800" b="0" spc="0" dirty="0">
                <a:solidFill>
                  <a:srgbClr val="FF0000"/>
                </a:solidFill>
                <a:latin typeface="+mn-lt"/>
              </a:rPr>
              <a:t>	</a:t>
            </a:r>
            <a:r>
              <a:rPr lang="en-GB" sz="2800" b="0" spc="0" dirty="0"/>
              <a:t>This independent variable datatype is: </a:t>
            </a:r>
            <a:r>
              <a:rPr lang="en-GB" sz="2800" b="0" spc="0" dirty="0">
                <a:solidFill>
                  <a:srgbClr val="FF0000"/>
                </a:solidFill>
              </a:rPr>
              <a:t>Interval data</a:t>
            </a:r>
            <a:endParaRPr lang="en-US" sz="2800" b="0" spc="0" dirty="0">
              <a:solidFill>
                <a:srgbClr val="FF0000"/>
              </a:solidFill>
              <a:latin typeface="+mn-lt"/>
            </a:endParaRPr>
          </a:p>
        </p:txBody>
      </p:sp>
    </p:spTree>
    <p:extLst>
      <p:ext uri="{BB962C8B-B14F-4D97-AF65-F5344CB8AC3E}">
        <p14:creationId xmlns:p14="http://schemas.microsoft.com/office/powerpoint/2010/main" val="1718004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245253"/>
            <a:ext cx="9753625" cy="648662"/>
          </a:xfrm>
        </p:spPr>
        <p:txBody>
          <a:bodyPr/>
          <a:lstStyle/>
          <a:p>
            <a:pPr>
              <a:lnSpc>
                <a:spcPct val="100000"/>
              </a:lnSpc>
              <a:spcAft>
                <a:spcPts val="0"/>
              </a:spcAft>
            </a:pPr>
            <a:r>
              <a:rPr lang="en-GB" dirty="0"/>
              <a:t>Our Research Questions </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965289" y="280660"/>
            <a:ext cx="7176911" cy="230832"/>
          </a:xfrm>
        </p:spPr>
        <p:txBody>
          <a:bodyPr/>
          <a:lstStyle/>
          <a:p>
            <a:r>
              <a:rPr lang="en-GB" dirty="0"/>
              <a:t>PRE 7COM1079-2024  Student Group No:  A99</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dirty="0"/>
              <a:t>2</a:t>
            </a:r>
            <a:endParaRPr lang="en-GB" dirty="0"/>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5"/>
            <a:ext cx="10640594" cy="2328462"/>
          </a:xfrm>
        </p:spPr>
        <p:txBody>
          <a:bodyPr>
            <a:noAutofit/>
          </a:bodyPr>
          <a:lstStyle/>
          <a:p>
            <a:pPr>
              <a:lnSpc>
                <a:spcPct val="100000"/>
              </a:lnSpc>
            </a:pPr>
            <a:r>
              <a:rPr lang="en-GB" sz="2800" b="0" spc="0" dirty="0">
                <a:latin typeface="+mn-lt"/>
              </a:rPr>
              <a:t>Is there a correlation between the </a:t>
            </a:r>
            <a:r>
              <a:rPr lang="en-GB" sz="2800" b="0" spc="0" dirty="0">
                <a:solidFill>
                  <a:srgbClr val="FF0000"/>
                </a:solidFill>
                <a:latin typeface="+mn-lt"/>
              </a:rPr>
              <a:t>price (in dollars) </a:t>
            </a:r>
            <a:r>
              <a:rPr lang="en-GB" sz="2800" b="0" spc="0" dirty="0">
                <a:latin typeface="+mn-lt"/>
              </a:rPr>
              <a:t>and </a:t>
            </a:r>
            <a:r>
              <a:rPr lang="en-GB" sz="2800" b="0" spc="0" dirty="0">
                <a:solidFill>
                  <a:srgbClr val="FF0000"/>
                </a:solidFill>
                <a:latin typeface="+mn-lt"/>
              </a:rPr>
              <a:t>area/dimension (in square feet) </a:t>
            </a:r>
            <a:r>
              <a:rPr lang="en-GB" sz="2800" b="0" spc="0" dirty="0">
                <a:latin typeface="+mn-lt"/>
              </a:rPr>
              <a:t>of a house in Minnesota, Unites States ?</a:t>
            </a:r>
            <a:endParaRPr lang="en-GB" sz="2400" dirty="0">
              <a:solidFill>
                <a:srgbClr val="FF0000"/>
              </a:solidFill>
              <a:latin typeface="+mn-lt"/>
            </a:endParaRPr>
          </a:p>
        </p:txBody>
      </p:sp>
    </p:spTree>
    <p:extLst>
      <p:ext uri="{BB962C8B-B14F-4D97-AF65-F5344CB8AC3E}">
        <p14:creationId xmlns:p14="http://schemas.microsoft.com/office/powerpoint/2010/main" val="32494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862962" y="220580"/>
            <a:ext cx="10406581" cy="961719"/>
          </a:xfrm>
        </p:spPr>
        <p:txBody>
          <a:bodyPr vert="horz" lIns="0" tIns="0" rIns="0" bIns="0" rtlCol="0" anchor="t">
            <a:noAutofit/>
          </a:bodyPr>
          <a:lstStyle/>
          <a:p>
            <a:r>
              <a:rPr lang="en-GB" sz="1500" b="0" dirty="0">
                <a:solidFill>
                  <a:schemeClr val="bg1">
                    <a:lumMod val="50000"/>
                  </a:schemeClr>
                </a:solidFill>
                <a:cs typeface="Calibri" panose="020F0502020204030204" pitchFamily="34" charset="0"/>
              </a:rPr>
              <a:t>PRE 7COM1079-2024  Student Group No:  A99</a:t>
            </a:r>
          </a:p>
          <a:p>
            <a:endParaRPr lang="en-GB" sz="1500" b="0" dirty="0">
              <a:solidFill>
                <a:schemeClr val="bg1">
                  <a:lumMod val="50000"/>
                </a:schemeClr>
              </a:solidFill>
              <a:cs typeface="Calibri" panose="020F0502020204030204" pitchFamily="34" charset="0"/>
            </a:endParaRPr>
          </a:p>
          <a:p>
            <a:r>
              <a:rPr lang="en-GB" b="1" dirty="0">
                <a:cs typeface="Calibri" panose="020F0502020204030204" pitchFamily="34" charset="0"/>
              </a:rPr>
              <a:t>Hypothesis Statements</a:t>
            </a:r>
          </a:p>
          <a:p>
            <a:pPr>
              <a:lnSpc>
                <a:spcPct val="100000"/>
              </a:lnSpc>
            </a:pPr>
            <a:endParaRPr lang="en-GB" sz="2400" b="0" dirty="0">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dirty="0"/>
              <a:t>3</a:t>
            </a:r>
            <a:endParaRPr lang="en-GB" dirty="0"/>
          </a:p>
        </p:txBody>
      </p:sp>
      <p:sp>
        <p:nvSpPr>
          <p:cNvPr id="9" name="Title 8">
            <a:extLst>
              <a:ext uri="{FF2B5EF4-FFF2-40B4-BE49-F238E27FC236}">
                <a16:creationId xmlns:a16="http://schemas.microsoft.com/office/drawing/2014/main" id="{D1A8E56B-DFF3-4B99-A410-52B14F2E39E7}"/>
              </a:ext>
            </a:extLst>
          </p:cNvPr>
          <p:cNvSpPr>
            <a:spLocks noGrp="1"/>
          </p:cNvSpPr>
          <p:nvPr>
            <p:ph type="ctrTitle"/>
          </p:nvPr>
        </p:nvSpPr>
        <p:spPr>
          <a:xfrm>
            <a:off x="862962" y="1751124"/>
            <a:ext cx="11329038" cy="3033528"/>
          </a:xfrm>
          <a:ln>
            <a:noFill/>
          </a:ln>
        </p:spPr>
        <p:txBody>
          <a:bodyPr>
            <a:normAutofit/>
          </a:bodyPr>
          <a:lstStyle/>
          <a:p>
            <a:pPr>
              <a:lnSpc>
                <a:spcPct val="115000"/>
              </a:lnSpc>
              <a:spcAft>
                <a:spcPts val="800"/>
              </a:spcAft>
            </a:pPr>
            <a:r>
              <a:rPr lang="en-GB" sz="2200" b="0" spc="0" dirty="0">
                <a:latin typeface="+mn-lt"/>
              </a:rPr>
              <a:t>Null Hypothesis (Ho​): There is no correlation between the </a:t>
            </a:r>
            <a:r>
              <a:rPr lang="en-GB" sz="2200" b="0" spc="0" dirty="0"/>
              <a:t>price and</a:t>
            </a:r>
            <a:r>
              <a:rPr lang="en-GB" sz="2200" b="0" spc="0" dirty="0">
                <a:latin typeface="+mn-lt"/>
              </a:rPr>
              <a:t> area of the house.</a:t>
            </a:r>
            <a:br>
              <a:rPr lang="en-GB" sz="2200" b="0" spc="0" dirty="0">
                <a:latin typeface="+mn-lt"/>
              </a:rPr>
            </a:br>
            <a:br>
              <a:rPr lang="en-GB" sz="2200" b="0" spc="0" dirty="0">
                <a:latin typeface="+mn-lt"/>
              </a:rPr>
            </a:br>
            <a:r>
              <a:rPr lang="en-GB" sz="2200" b="0" spc="0" dirty="0">
                <a:latin typeface="+mn-lt"/>
              </a:rPr>
              <a:t>Alternative Hypothesis (H</a:t>
            </a:r>
            <a:r>
              <a:rPr lang="en-GB" sz="1800" b="0" spc="0" dirty="0">
                <a:latin typeface="+mn-lt"/>
              </a:rPr>
              <a:t>1</a:t>
            </a:r>
            <a:r>
              <a:rPr lang="en-GB" sz="2200" b="0" spc="0" dirty="0">
                <a:latin typeface="+mn-lt"/>
              </a:rPr>
              <a:t>​): There is a correlation between </a:t>
            </a:r>
            <a:r>
              <a:rPr lang="en-GB" sz="2200" b="0" spc="0" dirty="0"/>
              <a:t>the price and area of the house.</a:t>
            </a:r>
            <a:br>
              <a:rPr lang="en-GB" sz="2200" b="0" spc="0" dirty="0"/>
            </a:br>
            <a:endParaRPr lang="en-GB" sz="2000" b="0" spc="0" dirty="0">
              <a:solidFill>
                <a:schemeClr val="accent2">
                  <a:lumMod val="75000"/>
                </a:schemeClr>
              </a:solidFill>
              <a:latin typeface="+mn-lt"/>
            </a:endParaRPr>
          </a:p>
        </p:txBody>
      </p:sp>
    </p:spTree>
    <p:extLst>
      <p:ext uri="{BB962C8B-B14F-4D97-AF65-F5344CB8AC3E}">
        <p14:creationId xmlns:p14="http://schemas.microsoft.com/office/powerpoint/2010/main" val="1833041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E32129C-44C2-95DE-7FB4-8025AAB3EA1F}"/>
              </a:ext>
            </a:extLst>
          </p:cNvPr>
          <p:cNvSpPr>
            <a:spLocks noGrp="1"/>
          </p:cNvSpPr>
          <p:nvPr>
            <p:ph type="ftr" sz="quarter" idx="11"/>
          </p:nvPr>
        </p:nvSpPr>
        <p:spPr>
          <a:xfrm>
            <a:off x="942198" y="310719"/>
            <a:ext cx="7176911" cy="230832"/>
          </a:xfrm>
        </p:spPr>
        <p:txBody>
          <a:bodyPr/>
          <a:lstStyle/>
          <a:p>
            <a:r>
              <a:rPr lang="en-GB" dirty="0">
                <a:solidFill>
                  <a:schemeClr val="bg1">
                    <a:lumMod val="50000"/>
                  </a:schemeClr>
                </a:solidFill>
                <a:cs typeface="Calibri" panose="020F0502020204030204" pitchFamily="34" charset="0"/>
              </a:rPr>
              <a:t>PRE 7COM1079-2024  Student Group No:  A99</a:t>
            </a:r>
          </a:p>
        </p:txBody>
      </p:sp>
      <p:sp>
        <p:nvSpPr>
          <p:cNvPr id="4" name="Slide Number Placeholder 3">
            <a:extLst>
              <a:ext uri="{FF2B5EF4-FFF2-40B4-BE49-F238E27FC236}">
                <a16:creationId xmlns:a16="http://schemas.microsoft.com/office/drawing/2014/main" id="{9143F542-9925-BCBE-2DA4-35A32A38D9AD}"/>
              </a:ext>
            </a:extLst>
          </p:cNvPr>
          <p:cNvSpPr>
            <a:spLocks noGrp="1"/>
          </p:cNvSpPr>
          <p:nvPr>
            <p:ph type="sldNum" sz="quarter" idx="12"/>
          </p:nvPr>
        </p:nvSpPr>
        <p:spPr>
          <a:xfrm>
            <a:off x="11268222" y="791022"/>
            <a:ext cx="267286" cy="264055"/>
          </a:xfrm>
        </p:spPr>
        <p:txBody>
          <a:bodyPr/>
          <a:lstStyle/>
          <a:p>
            <a:r>
              <a:rPr lang="en-GB" dirty="0"/>
              <a:t>4</a:t>
            </a:r>
          </a:p>
        </p:txBody>
      </p:sp>
      <p:sp>
        <p:nvSpPr>
          <p:cNvPr id="5" name="Title 4">
            <a:extLst>
              <a:ext uri="{FF2B5EF4-FFF2-40B4-BE49-F238E27FC236}">
                <a16:creationId xmlns:a16="http://schemas.microsoft.com/office/drawing/2014/main" id="{FEF2E89F-D251-B0A8-2377-FD314948D49C}"/>
              </a:ext>
            </a:extLst>
          </p:cNvPr>
          <p:cNvSpPr>
            <a:spLocks noGrp="1"/>
          </p:cNvSpPr>
          <p:nvPr>
            <p:ph type="ctrTitle"/>
          </p:nvPr>
        </p:nvSpPr>
        <p:spPr>
          <a:xfrm>
            <a:off x="942198" y="791022"/>
            <a:ext cx="9128901" cy="956604"/>
          </a:xfrm>
        </p:spPr>
        <p:txBody>
          <a:bodyPr>
            <a:normAutofit fontScale="90000"/>
          </a:bodyPr>
          <a:lstStyle/>
          <a:p>
            <a:r>
              <a:rPr lang="en-US" sz="5400" dirty="0"/>
              <a:t>Dataset Snippet – Housing Data</a:t>
            </a:r>
            <a:endParaRPr lang="en-GB" sz="5400" dirty="0"/>
          </a:p>
        </p:txBody>
      </p:sp>
      <p:pic>
        <p:nvPicPr>
          <p:cNvPr id="6" name="Picture 5"/>
          <p:cNvPicPr>
            <a:picLocks noChangeAspect="1"/>
          </p:cNvPicPr>
          <p:nvPr/>
        </p:nvPicPr>
        <p:blipFill>
          <a:blip r:embed="rId2"/>
          <a:stretch>
            <a:fillRect/>
          </a:stretch>
        </p:blipFill>
        <p:spPr>
          <a:xfrm>
            <a:off x="0" y="2112513"/>
            <a:ext cx="12192000" cy="2894804"/>
          </a:xfrm>
          <a:prstGeom prst="rect">
            <a:avLst/>
          </a:prstGeom>
        </p:spPr>
      </p:pic>
    </p:spTree>
    <p:extLst>
      <p:ext uri="{BB962C8B-B14F-4D97-AF65-F5344CB8AC3E}">
        <p14:creationId xmlns:p14="http://schemas.microsoft.com/office/powerpoint/2010/main" val="271734506"/>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1B8C57-903D-4D0E-8336-7B512F760C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d138b4-2b68-4b70-945d-07f8f18b1c9a"/>
    <ds:schemaRef ds:uri="3c474641-ec36-472f-b125-6b1b0910ea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DD1FC41-23C7-41B0-B5F9-BF4CD38AD2ED}">
  <ds:schemaRefs>
    <ds:schemaRef ds:uri="http://schemas.microsoft.com/office/infopath/2007/PartnerControls"/>
    <ds:schemaRef ds:uri="3c474641-ec36-472f-b125-6b1b0910eaa4"/>
    <ds:schemaRef ds:uri="http://purl.org/dc/terms/"/>
    <ds:schemaRef ds:uri="http://schemas.microsoft.com/office/2006/documentManagement/types"/>
    <ds:schemaRef ds:uri="http://www.w3.org/XML/1998/namespace"/>
    <ds:schemaRef ds:uri="http://purl.org/dc/elements/1.1/"/>
    <ds:schemaRef ds:uri="http://schemas.openxmlformats.org/package/2006/metadata/core-properties"/>
    <ds:schemaRef ds:uri="4ad138b4-2b68-4b70-945d-07f8f18b1c9a"/>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4012</TotalTime>
  <Words>478</Words>
  <Application>Microsoft Office PowerPoint</Application>
  <PresentationFormat>Widescreen</PresentationFormat>
  <Paragraphs>26</Paragraphs>
  <Slides>5</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Research Question –  Is there a correlation between the price (in dollars) and area/dimension (in square feet) of a houses in the Minnesota, United States ? Date:  04/11/24</vt:lpstr>
      <vt:lpstr>This dataset is interesting to us because it predicts the housing price based on certain factors like house area per square foot, number of bedrooms, furnished status, nearness to main road and so on.  Our  Independent variable is: house area  This independent variable datatype is: Interval data  Our Dependent variable is: price   This independent variable datatype is: Interval data</vt:lpstr>
      <vt:lpstr>Is there a correlation between the price (in dollars) and area/dimension (in square feet) of a house in Minnesota, Unites States ?</vt:lpstr>
      <vt:lpstr>Null Hypothesis (Ho​): There is no correlation between the price and area of the house.  Alternative Hypothesis (H1​): There is a correlation between the price and area of the house. </vt:lpstr>
      <vt:lpstr>Dataset Snippet – Housing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Emmanuel Eteyen Archibong [Student-PECS]</cp:lastModifiedBy>
  <cp:revision>244</cp:revision>
  <dcterms:created xsi:type="dcterms:W3CDTF">2019-10-01T08:37:56Z</dcterms:created>
  <dcterms:modified xsi:type="dcterms:W3CDTF">2024-11-22T23:13:03Z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