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8"/>
  </p:notesMasterIdLst>
  <p:sldIdLst>
    <p:sldId id="257" r:id="rId3"/>
    <p:sldId id="258" r:id="rId4"/>
    <p:sldId id="260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138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Click to move the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AA52E85-46BB-478F-9B90-F5E3374B36E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7CC6F23-8E84-4016-97B1-94C1094E9B29}" type="slidenum">
              <a:rPr lang="en-GB" sz="1200" b="0" strike="noStrike" spc="-1">
                <a:latin typeface="Times New Roman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F2152A03-473D-4693-94B3-2C4A26E4B7E1}" type="slidenum">
              <a:rPr lang="en-GB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64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954000" y="2579760"/>
            <a:ext cx="10030680" cy="10011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954000" y="2579760"/>
            <a:ext cx="10030680" cy="10011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/>
          </p:nvPr>
        </p:nvSpPr>
        <p:spPr>
          <a:xfrm>
            <a:off x="965160" y="790920"/>
            <a:ext cx="717660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PRESENTATION TITLE (ADD VIA INSERT, HEADER &amp; FOOTER)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/>
          </p:nvPr>
        </p:nvSpPr>
        <p:spPr>
          <a:xfrm>
            <a:off x="10616400" y="790920"/>
            <a:ext cx="62244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C5CF792-EC3F-4960-8972-785816571BA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ts val="7999"/>
              </a:lnSpc>
            </a:pPr>
            <a:r>
              <a:rPr lang="en-US" sz="7500" b="1" strike="noStrike" spc="-202">
                <a:solidFill>
                  <a:srgbClr val="203232"/>
                </a:solidFill>
                <a:latin typeface="Arial"/>
              </a:rPr>
              <a:t>Click to edit master title</a:t>
            </a:r>
            <a:endParaRPr lang="en-US" sz="75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" name="CustomShape 4"/>
          <p:cNvSpPr/>
          <p:nvPr/>
        </p:nvSpPr>
        <p:spPr>
          <a:xfrm>
            <a:off x="0" y="0"/>
            <a:ext cx="12191760" cy="14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10"/>
          <p:cNvPicPr/>
          <p:nvPr/>
        </p:nvPicPr>
        <p:blipFill>
          <a:blip r:embed="rId14"/>
          <a:stretch/>
        </p:blipFill>
        <p:spPr>
          <a:xfrm>
            <a:off x="954000" y="5517360"/>
            <a:ext cx="2244600" cy="396720"/>
          </a:xfrm>
          <a:prstGeom prst="rect">
            <a:avLst/>
          </a:prstGeom>
          <a:ln>
            <a:noFill/>
          </a:ln>
        </p:spPr>
      </p:pic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00">
                <a:solidFill>
                  <a:srgbClr val="203232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00">
                <a:solidFill>
                  <a:srgbClr val="203232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1" strike="noStrike" spc="-1">
                <a:solidFill>
                  <a:srgbClr val="203232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5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ts val="7999"/>
              </a:lnSpc>
            </a:pPr>
            <a:r>
              <a:rPr lang="en-US" sz="7500" b="1" strike="noStrike" spc="-202">
                <a:solidFill>
                  <a:srgbClr val="FFFFFF"/>
                </a:solidFill>
                <a:latin typeface="Arial"/>
              </a:rPr>
              <a:t>Click to edit master title</a:t>
            </a:r>
            <a:endParaRPr lang="en-US" sz="75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/>
          </p:nvPr>
        </p:nvSpPr>
        <p:spPr>
          <a:xfrm>
            <a:off x="965160" y="779760"/>
            <a:ext cx="717660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FFFFFF"/>
                </a:solidFill>
                <a:latin typeface="Arial"/>
              </a:rPr>
              <a:t>PRESENTATION TITLE (ADD VIA INSERT, HEADER &amp; FOOTER)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/>
          </p:nvPr>
        </p:nvSpPr>
        <p:spPr>
          <a:xfrm>
            <a:off x="10616400" y="779760"/>
            <a:ext cx="62244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76E94C7-478D-41B1-83CB-4B08D116676D}" type="slidenum">
              <a:rPr lang="en-GB" sz="1500" b="1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pic>
        <p:nvPicPr>
          <p:cNvPr id="45" name="Picture 7" descr="A picture containing drawing&#10;&#10;Description automatically generated"/>
          <p:cNvPicPr/>
          <p:nvPr/>
        </p:nvPicPr>
        <p:blipFill>
          <a:blip r:embed="rId14"/>
          <a:stretch/>
        </p:blipFill>
        <p:spPr>
          <a:xfrm>
            <a:off x="954000" y="5511600"/>
            <a:ext cx="2242440" cy="397440"/>
          </a:xfrm>
          <a:prstGeom prst="rect">
            <a:avLst/>
          </a:prstGeom>
          <a:ln>
            <a:noFill/>
          </a:ln>
        </p:spPr>
      </p:pic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00">
                <a:solidFill>
                  <a:srgbClr val="203232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00">
                <a:solidFill>
                  <a:srgbClr val="203232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1" strike="noStrike" spc="-1">
                <a:solidFill>
                  <a:srgbClr val="203232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965160" y="1695420"/>
            <a:ext cx="10030680" cy="38191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40000" lnSpcReduction="20000"/>
          </a:bodyPr>
          <a:lstStyle/>
          <a:p>
            <a:pPr>
              <a:lnSpc>
                <a:spcPts val="7999"/>
              </a:lnSpc>
            </a:pPr>
            <a:r>
              <a:rPr lang="en-US" sz="10000" b="1" strike="noStrike" spc="-20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– Does the data show a correlation </a:t>
            </a:r>
            <a:r>
              <a:rPr lang="en-GB" sz="10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the price (in dollars) of a house and its dimension area (in square feet) in USA ?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 04/11/24</a:t>
            </a:r>
          </a:p>
        </p:txBody>
      </p:sp>
      <p:sp>
        <p:nvSpPr>
          <p:cNvPr id="94" name="TextShape 2"/>
          <p:cNvSpPr txBox="1"/>
          <p:nvPr/>
        </p:nvSpPr>
        <p:spPr>
          <a:xfrm>
            <a:off x="965160" y="1335780"/>
            <a:ext cx="10030680" cy="359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US" sz="2000" b="1" strike="noStrike" spc="-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Id: A099                                                         Name of Student Presenting: Adeyemo </a:t>
            </a:r>
            <a:r>
              <a:rPr lang="en-US" sz="2000" b="1" strike="noStrike" spc="-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Ayobami</a:t>
            </a:r>
            <a:endParaRPr lang="en-US" sz="20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TextShape 3"/>
          <p:cNvSpPr txBox="1"/>
          <p:nvPr/>
        </p:nvSpPr>
        <p:spPr>
          <a:xfrm>
            <a:off x="965160" y="274320"/>
            <a:ext cx="10936108" cy="735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GB" sz="15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7COM1079-2022  Student Group No: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A099</a:t>
            </a:r>
            <a:r>
              <a:rPr lang="en-GB" sz="15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Names of Student Attendees: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Mukaila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Salami, Rane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Ebinne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Adeyemo 								Ayobami, Emmanuel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Archibong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Daniel Williams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5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Shape 4"/>
          <p:cNvSpPr txBox="1"/>
          <p:nvPr/>
        </p:nvSpPr>
        <p:spPr>
          <a:xfrm>
            <a:off x="10616400" y="77976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endParaRPr lang="en-US" sz="15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17560" y="813960"/>
            <a:ext cx="10109880" cy="985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US" sz="2400" b="0" strike="noStrike" spc="-100" dirty="0">
                <a:solidFill>
                  <a:srgbClr val="203232"/>
                </a:solidFill>
                <a:latin typeface="Calibri"/>
              </a:rPr>
              <a:t>We are using the dataset</a:t>
            </a:r>
            <a:r>
              <a:rPr lang="en-US" sz="2400" b="0" strike="noStrike" spc="-100" dirty="0">
                <a:solidFill>
                  <a:srgbClr val="FF0000"/>
                </a:solidFill>
                <a:latin typeface="Calibri"/>
              </a:rPr>
              <a:t> DS003 [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Housing.csv] </a:t>
            </a:r>
            <a:r>
              <a:rPr lang="en-US" sz="2400" b="0" strike="noStrike" spc="-100" dirty="0">
                <a:solidFill>
                  <a:srgbClr val="203232"/>
                </a:solidFill>
                <a:latin typeface="Calibri"/>
              </a:rPr>
              <a:t>to answer our Research question  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“Is there a correlation between the price of a house and its area measured in square feet in USA ?“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br>
              <a:rPr dirty="0"/>
            </a:br>
            <a:endParaRPr lang="en-US" sz="2400" b="0" strike="noStrike" spc="-1" dirty="0"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965160" y="401400"/>
            <a:ext cx="91292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 dirty="0">
                <a:solidFill>
                  <a:srgbClr val="B3B9B9"/>
                </a:solidFill>
                <a:latin typeface="Arial"/>
              </a:rPr>
              <a:t>7COM1079-2022  Student Group ID: A99 </a:t>
            </a:r>
            <a:endParaRPr lang="en-US" sz="1500" b="0" strike="noStrike" spc="-1" dirty="0">
              <a:latin typeface="Times New Roman"/>
            </a:endParaRPr>
          </a:p>
        </p:txBody>
      </p:sp>
      <p:sp>
        <p:nvSpPr>
          <p:cNvPr id="99" name="TextShape 3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4930DA13-7524-4AF3-9B3D-EE4DE692AE5C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2</a:t>
            </a:fld>
            <a:endParaRPr lang="en-US" sz="1500" b="0" strike="noStrike" spc="-1" dirty="0">
              <a:latin typeface="Times New Roman"/>
            </a:endParaRPr>
          </a:p>
        </p:txBody>
      </p:sp>
      <p:sp>
        <p:nvSpPr>
          <p:cNvPr id="102" name="CustomShape 6"/>
          <p:cNvSpPr/>
          <p:nvPr/>
        </p:nvSpPr>
        <p:spPr>
          <a:xfrm>
            <a:off x="783914" y="3769061"/>
            <a:ext cx="5329440" cy="13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endParaRPr lang="en-GB" sz="2000" b="0" strike="noStrike" spc="-1" dirty="0">
              <a:solidFill>
                <a:srgbClr val="FF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dataset has </a:t>
            </a:r>
            <a:r>
              <a:rPr lang="en-GB" sz="2000" i="1" spc="-1" dirty="0">
                <a:solidFill>
                  <a:srgbClr val="005D72"/>
                </a:solidFill>
                <a:latin typeface="Arial"/>
              </a:rPr>
              <a:t>545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 rows</a:t>
            </a:r>
            <a:endParaRPr lang="en-US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dependent variable</a:t>
            </a:r>
            <a:r>
              <a:rPr lang="en-GB" sz="2000" b="0" strike="noStrike" spc="-1" baseline="30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is 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price ($) </a:t>
            </a:r>
            <a:endParaRPr lang="en-US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independent variable</a:t>
            </a:r>
            <a:r>
              <a:rPr lang="en-GB" sz="2000" b="0" strike="noStrike" spc="-1" baseline="30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is 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area (</a:t>
            </a:r>
            <a:r>
              <a:rPr lang="en-GB" sz="2000" b="0" i="1" strike="noStrike" spc="-1" dirty="0" err="1">
                <a:solidFill>
                  <a:srgbClr val="005D72"/>
                </a:solidFill>
                <a:latin typeface="Arial"/>
              </a:rPr>
              <a:t>sq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 </a:t>
            </a:r>
            <a:r>
              <a:rPr lang="en-GB" sz="2000" b="0" i="1" strike="noStrike" spc="-1" dirty="0" err="1">
                <a:solidFill>
                  <a:srgbClr val="005D72"/>
                </a:solidFill>
                <a:latin typeface="Arial"/>
              </a:rPr>
              <a:t>ft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)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14" y="1596386"/>
            <a:ext cx="10681255" cy="2375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6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7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8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9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20" name="TextShape 6"/>
          <p:cNvSpPr txBox="1"/>
          <p:nvPr/>
        </p:nvSpPr>
        <p:spPr>
          <a:xfrm>
            <a:off x="8217720" y="343800"/>
            <a:ext cx="338616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200" b="0" strike="noStrike" spc="-100">
                <a:solidFill>
                  <a:srgbClr val="FFFFFF"/>
                </a:solidFill>
                <a:latin typeface="Arial"/>
              </a:rPr>
              <a:t>Our RQ asks about Correlation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1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3AD1EC97-2E3A-4B5A-93B5-9F892C3DC423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3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22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(price) to include the normal curve overlay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4" name="CustomShape 10"/>
          <p:cNvSpPr/>
          <p:nvPr/>
        </p:nvSpPr>
        <p:spPr>
          <a:xfrm>
            <a:off x="6931748" y="3055902"/>
            <a:ext cx="505764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strike="noStrike" spc="-1" dirty="0">
                <a:solidFill>
                  <a:srgbClr val="203232"/>
                </a:solidFill>
                <a:latin typeface="Arial"/>
              </a:rPr>
              <a:t>does not follow 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shape of the underlying data, so for our analysis we use the non-parametric test for correlation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Spearman’s Rho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4" y="1652484"/>
            <a:ext cx="6625882" cy="51877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4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701458" y="1671662"/>
            <a:ext cx="11066988" cy="3477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RSCRIPT SNIPPET</a:t>
            </a:r>
          </a:p>
          <a:p>
            <a:r>
              <a:rPr lang="en-GB" sz="12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#spearman correlation test</a:t>
            </a:r>
          </a:p>
          <a:p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&lt;-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cor.test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data$area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data$price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method = "spearman")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cat("\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nCORRELATION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ANALYSIS:\n")  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cat("Spearman correlation  coefficient:",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correlation_test$estimate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"\n")  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cat("P-value:",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correlation_test$p.value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"\n")</a:t>
            </a:r>
          </a:p>
          <a:p>
            <a:endParaRPr lang="en-GB" sz="11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RESULT: TEST STATISTIC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CORRELATION ANALYSIS: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Spearman correlation coefficient: 0.6028589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P-value: 3.128554e-55 </a:t>
            </a:r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P-VALUE</a:t>
            </a:r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sz="1400" dirty="0">
                <a:ea typeface="Source Code Pro" panose="020B0509030403020204" pitchFamily="49" charset="0"/>
              </a:rPr>
              <a:t>The p-value is &lt;0.05</a:t>
            </a: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5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27188" y="1671663"/>
            <a:ext cx="11066988" cy="29238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IS THE RESULT SIGNIFICANT?</a:t>
            </a:r>
          </a:p>
          <a:p>
            <a:endParaRPr lang="en-GB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2000" dirty="0"/>
          </a:p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DO YOU ACCEPT OR REJECT THE NULL HYPOTHESIS?</a:t>
            </a:r>
            <a:endParaRPr lang="en-GB" sz="2000" dirty="0"/>
          </a:p>
          <a:p>
            <a:r>
              <a:rPr lang="en-GB" sz="2000" dirty="0"/>
              <a:t>The null hypothesis is rejected</a:t>
            </a:r>
          </a:p>
          <a:p>
            <a:endParaRPr lang="en-GB" sz="2000" dirty="0"/>
          </a:p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MEANING OF THE RESULT</a:t>
            </a:r>
            <a:r>
              <a:rPr lang="en-GB" sz="2000" dirty="0"/>
              <a:t>: </a:t>
            </a:r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WE LEARNT?</a:t>
            </a:r>
            <a:endParaRPr lang="en-GB" sz="2000" dirty="0"/>
          </a:p>
          <a:p>
            <a:r>
              <a:rPr lang="en-GB" sz="2000" dirty="0"/>
              <a:t>The test shows a moderate positive correlation (around 0.6) between housing area and price, with a very low p-value indicating a statistically significant relationship.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6648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10663</TotalTime>
  <Words>395</Words>
  <Application>Microsoft Office PowerPoint</Application>
  <PresentationFormat>Widescreen</PresentationFormat>
  <Paragraphs>53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Source Code Pro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Joanne Harwood</dc:creator>
  <dc:description/>
  <cp:lastModifiedBy>Daniel Yelekachi Aleruchi Williams [Student-PECS]</cp:lastModifiedBy>
  <cp:revision>168</cp:revision>
  <dcterms:created xsi:type="dcterms:W3CDTF">2019-10-01T08:37:56Z</dcterms:created>
  <dcterms:modified xsi:type="dcterms:W3CDTF">2024-11-23T14:49:46Z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0x01010026DBA85F447B164191BB36C258697B67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7</vt:i4>
  </property>
</Properties>
</file>